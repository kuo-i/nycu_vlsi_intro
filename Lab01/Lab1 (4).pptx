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5431" r:id="rId6"/>
  </p:sldMasterIdLst>
  <p:notesMasterIdLst>
    <p:notesMasterId r:id="rId14"/>
  </p:notesMasterIdLst>
  <p:handoutMasterIdLst>
    <p:handoutMasterId r:id="rId15"/>
  </p:handoutMasterIdLst>
  <p:sldIdLst>
    <p:sldId id="373" r:id="rId7"/>
    <p:sldId id="375" r:id="rId8"/>
    <p:sldId id="374" r:id="rId9"/>
    <p:sldId id="377" r:id="rId10"/>
    <p:sldId id="378" r:id="rId11"/>
    <p:sldId id="382" r:id="rId12"/>
    <p:sldId id="380" r:id="rId1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作者"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1DE"/>
    <a:srgbClr val="E5ECEB"/>
    <a:srgbClr val="95D600"/>
    <a:srgbClr val="FF6B00"/>
    <a:srgbClr val="FFC600"/>
    <a:srgbClr val="FF6900"/>
    <a:srgbClr val="93E5FF"/>
    <a:srgbClr val="7B7F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5E74E5-5BE1-4872-B9A4-D0B5EB70B9E6}" v="16" dt="2025-04-23T06:43:39.384"/>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779" autoAdjust="0"/>
    <p:restoredTop sz="90768" autoAdjust="0"/>
  </p:normalViewPr>
  <p:slideViewPr>
    <p:cSldViewPr snapToGrid="0">
      <p:cViewPr varScale="1">
        <p:scale>
          <a:sx n="71" d="100"/>
          <a:sy n="71" d="100"/>
        </p:scale>
        <p:origin x="86" y="86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2752"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5" Type="http://schemas.openxmlformats.org/officeDocument/2006/relationships/customXml" Target="../customXml/item5.xml"/><Relationship Id="rId15" Type="http://schemas.openxmlformats.org/officeDocument/2006/relationships/handoutMaster" Target="handoutMasters/handoutMaster1.xml"/><Relationship Id="rId10" Type="http://schemas.openxmlformats.org/officeDocument/2006/relationships/slide" Target="slides/slide4.xml"/><Relationship Id="rId19"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3" name="Date Placeholder 2">
            <a:extLst>
              <a:ext uri="{FF2B5EF4-FFF2-40B4-BE49-F238E27FC236}">
                <a16:creationId xmlns:a16="http://schemas.microsoft.com/office/drawing/2014/main" id="{E6ABC0BB-F774-4303-9701-003B3E743AFE}"/>
              </a:ext>
            </a:extLst>
          </p:cNvPr>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EB52217F-109B-4561-ACE4-BE073A308A21}" type="datetimeFigureOut">
              <a:rPr lang="en-US" altLang="en-US"/>
              <a:pPr>
                <a:defRPr/>
              </a:pPr>
              <a:t>4/28/2025</a:t>
            </a:fld>
            <a:endParaRPr lang="en-US" altLang="en-US" dirty="0"/>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dirty="0"/>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4/28/2025</a:t>
            </a:fld>
            <a:endParaRPr lang="en-US" altLang="en-US" dirty="0"/>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dirty="0"/>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dirty="0"/>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開啟</a:t>
            </a:r>
            <a:r>
              <a:rPr lang="en-US" altLang="zh-TW" dirty="0" err="1"/>
              <a:t>powershell</a:t>
            </a:r>
            <a:endParaRPr lang="en-US" altLang="zh-TW" dirty="0"/>
          </a:p>
          <a:p>
            <a:r>
              <a:rPr lang="en-US" altLang="zh-TW" dirty="0"/>
              <a:t>Change folder</a:t>
            </a:r>
            <a:r>
              <a:rPr lang="zh-TW" altLang="en-US" dirty="0"/>
              <a:t>到上次</a:t>
            </a:r>
            <a:r>
              <a:rPr lang="en-US" altLang="zh-TW" dirty="0" err="1"/>
              <a:t>Github</a:t>
            </a:r>
            <a:r>
              <a:rPr lang="zh-TW" altLang="en-US" dirty="0"/>
              <a:t>下載的資料夾下</a:t>
            </a:r>
            <a:endParaRPr lang="en-US" altLang="zh-TW" dirty="0"/>
          </a:p>
          <a:p>
            <a:r>
              <a:rPr lang="zh-TW" altLang="en-US" dirty="0"/>
              <a:t>先 </a:t>
            </a:r>
            <a:r>
              <a:rPr lang="en-US" altLang="zh-TW" dirty="0"/>
              <a:t>docker rm </a:t>
            </a:r>
            <a:r>
              <a:rPr lang="en-US" altLang="zh-TW" dirty="0" err="1"/>
              <a:t>iic-osic-tools_xserver</a:t>
            </a:r>
            <a:endParaRPr lang="en-US" altLang="zh-TW" dirty="0"/>
          </a:p>
          <a:p>
            <a:r>
              <a:rPr lang="en-US" altLang="zh-TW" dirty="0"/>
              <a:t>.\start_x.bat </a:t>
            </a:r>
            <a:r>
              <a:rPr lang="zh-TW" altLang="en-US" dirty="0"/>
              <a:t>啟動環境</a:t>
            </a:r>
          </a:p>
        </p:txBody>
      </p:sp>
      <p:sp>
        <p:nvSpPr>
          <p:cNvPr id="4" name="投影片編號版面配置區 3"/>
          <p:cNvSpPr>
            <a:spLocks noGrp="1"/>
          </p:cNvSpPr>
          <p:nvPr>
            <p:ph type="sldNum" sz="quarter" idx="5"/>
          </p:nvPr>
        </p:nvSpPr>
        <p:spPr/>
        <p:txBody>
          <a:bodyPr/>
          <a:lstStyle/>
          <a:p>
            <a:pPr>
              <a:defRPr/>
            </a:pPr>
            <a:fld id="{3B16354E-6974-4833-AB87-3220A0835E84}" type="slidenum">
              <a:rPr lang="en-US" altLang="en-US" smtClean="0"/>
              <a:pPr>
                <a:defRPr/>
              </a:pPr>
              <a:t>3</a:t>
            </a:fld>
            <a:endParaRPr lang="en-US" altLang="en-US" dirty="0"/>
          </a:p>
        </p:txBody>
      </p:sp>
    </p:spTree>
    <p:extLst>
      <p:ext uri="{BB962C8B-B14F-4D97-AF65-F5344CB8AC3E}">
        <p14:creationId xmlns:p14="http://schemas.microsoft.com/office/powerpoint/2010/main" val="405547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至</a:t>
            </a:r>
            <a:r>
              <a:rPr lang="en-US" altLang="zh-TW" dirty="0"/>
              <a:t>C:\Users\</a:t>
            </a:r>
            <a:r>
              <a:rPr lang="en-US" altLang="zh-TW" b="1" dirty="0"/>
              <a:t>your_username</a:t>
            </a:r>
            <a:r>
              <a:rPr lang="en-US" altLang="zh-TW" dirty="0"/>
              <a:t>\eda\designs</a:t>
            </a:r>
            <a:r>
              <a:rPr lang="zh-TW" altLang="en-US" dirty="0"/>
              <a:t> 將老師公告在</a:t>
            </a:r>
            <a:r>
              <a:rPr lang="en-US" altLang="zh-TW" dirty="0"/>
              <a:t>E3</a:t>
            </a:r>
            <a:r>
              <a:rPr lang="zh-TW" altLang="en-US" dirty="0"/>
              <a:t>的</a:t>
            </a:r>
            <a:r>
              <a:rPr lang="en-US" altLang="zh-TW" dirty="0"/>
              <a:t>spice</a:t>
            </a:r>
            <a:r>
              <a:rPr lang="zh-TW" altLang="en-US" dirty="0"/>
              <a:t>檔案下載並解壓縮複製到資料夾下</a:t>
            </a:r>
            <a:endParaRPr lang="en-US" altLang="zh-TW" dirty="0"/>
          </a:p>
          <a:p>
            <a:r>
              <a:rPr lang="zh-TW" altLang="en-US" dirty="0"/>
              <a:t>撰寫</a:t>
            </a:r>
            <a:r>
              <a:rPr lang="en-US" altLang="zh-TW" dirty="0"/>
              <a:t>Spice</a:t>
            </a:r>
            <a:r>
              <a:rPr lang="zh-TW" altLang="en-US" dirty="0"/>
              <a:t>檔</a:t>
            </a:r>
            <a:endParaRPr lang="en-US" altLang="zh-TW" dirty="0"/>
          </a:p>
          <a:p>
            <a:r>
              <a:rPr lang="zh-TW" altLang="en-US" dirty="0"/>
              <a:t>在</a:t>
            </a:r>
            <a:r>
              <a:rPr lang="en-US" altLang="zh-TW" dirty="0"/>
              <a:t>Linux</a:t>
            </a:r>
            <a:r>
              <a:rPr lang="zh-TW" altLang="en-US" dirty="0"/>
              <a:t>環境可以</a:t>
            </a:r>
            <a:r>
              <a:rPr lang="en-US" altLang="zh-TW" dirty="0"/>
              <a:t>ls –al </a:t>
            </a:r>
            <a:r>
              <a:rPr lang="zh-TW" altLang="en-US" dirty="0"/>
              <a:t>看到資料夾已經有需要的檔案</a:t>
            </a:r>
            <a:endParaRPr lang="en-US" altLang="zh-TW" dirty="0"/>
          </a:p>
          <a:p>
            <a:r>
              <a:rPr lang="zh-TW" altLang="en-US" dirty="0"/>
              <a:t>使用</a:t>
            </a:r>
            <a:r>
              <a:rPr lang="en-US" altLang="zh-TW" dirty="0" err="1"/>
              <a:t>ngspice</a:t>
            </a:r>
            <a:r>
              <a:rPr lang="en-US" altLang="zh-TW" dirty="0"/>
              <a:t> Lab1_studentID.sp</a:t>
            </a:r>
            <a:r>
              <a:rPr lang="zh-TW" altLang="en-US" dirty="0"/>
              <a:t>進行模擬</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pPr>
              <a:defRPr/>
            </a:pPr>
            <a:fld id="{3B16354E-6974-4833-AB87-3220A0835E84}" type="slidenum">
              <a:rPr lang="en-US" altLang="en-US" smtClean="0"/>
              <a:pPr>
                <a:defRPr/>
              </a:pPr>
              <a:t>4</a:t>
            </a:fld>
            <a:endParaRPr lang="en-US" altLang="en-US" dirty="0"/>
          </a:p>
        </p:txBody>
      </p:sp>
    </p:spTree>
    <p:extLst>
      <p:ext uri="{BB962C8B-B14F-4D97-AF65-F5344CB8AC3E}">
        <p14:creationId xmlns:p14="http://schemas.microsoft.com/office/powerpoint/2010/main" val="3853069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至</a:t>
            </a:r>
            <a:r>
              <a:rPr lang="en-US" altLang="zh-TW" dirty="0"/>
              <a:t>C:\Users\</a:t>
            </a:r>
            <a:r>
              <a:rPr lang="en-US" altLang="zh-TW" b="1" dirty="0"/>
              <a:t>your_username</a:t>
            </a:r>
            <a:r>
              <a:rPr lang="en-US" altLang="zh-TW" dirty="0"/>
              <a:t>\eda\designs</a:t>
            </a:r>
            <a:r>
              <a:rPr lang="zh-TW" altLang="en-US" dirty="0"/>
              <a:t> 將老師公告在</a:t>
            </a:r>
            <a:r>
              <a:rPr lang="en-US" altLang="zh-TW" dirty="0"/>
              <a:t>E3</a:t>
            </a:r>
            <a:r>
              <a:rPr lang="zh-TW" altLang="en-US" dirty="0"/>
              <a:t>的</a:t>
            </a:r>
            <a:r>
              <a:rPr lang="en-US" altLang="zh-TW" dirty="0"/>
              <a:t>spice</a:t>
            </a:r>
            <a:r>
              <a:rPr lang="zh-TW" altLang="en-US" dirty="0"/>
              <a:t>檔案下載並解壓縮複製到資料夾下</a:t>
            </a:r>
            <a:endParaRPr lang="en-US" altLang="zh-TW" dirty="0"/>
          </a:p>
          <a:p>
            <a:r>
              <a:rPr lang="zh-TW" altLang="en-US" dirty="0"/>
              <a:t>這邊可以看到當</a:t>
            </a:r>
            <a:r>
              <a:rPr lang="en-US" altLang="zh-TW" dirty="0" err="1"/>
              <a:t>Tdc</a:t>
            </a:r>
            <a:r>
              <a:rPr lang="zh-TW" altLang="en-US" dirty="0"/>
              <a:t>足夠大的時候</a:t>
            </a:r>
            <a:r>
              <a:rPr lang="en-US" altLang="zh-TW" dirty="0"/>
              <a:t>(D</a:t>
            </a:r>
            <a:r>
              <a:rPr lang="zh-TW" altLang="en-US" dirty="0"/>
              <a:t>與</a:t>
            </a:r>
            <a:r>
              <a:rPr lang="en-US" altLang="zh-TW" dirty="0" err="1"/>
              <a:t>clk</a:t>
            </a:r>
            <a:r>
              <a:rPr lang="zh-TW" altLang="en-US" dirty="0"/>
              <a:t>距離越遠</a:t>
            </a:r>
            <a:r>
              <a:rPr lang="en-US" altLang="zh-TW" dirty="0"/>
              <a:t>)</a:t>
            </a:r>
            <a:r>
              <a:rPr lang="zh-TW" altLang="en-US" dirty="0"/>
              <a:t>，</a:t>
            </a:r>
            <a:r>
              <a:rPr lang="en-US" altLang="zh-TW" dirty="0"/>
              <a:t>Q</a:t>
            </a:r>
            <a:r>
              <a:rPr lang="zh-TW" altLang="en-US" dirty="0"/>
              <a:t>的值會改變。</a:t>
            </a:r>
            <a:r>
              <a:rPr lang="zh-TW" altLang="en-US" b="1" dirty="0">
                <a:solidFill>
                  <a:srgbClr val="FF0000"/>
                </a:solidFill>
              </a:rPr>
              <a:t>你需要截圖第一張</a:t>
            </a:r>
            <a:r>
              <a:rPr lang="en-US" altLang="zh-TW" b="1" dirty="0">
                <a:solidFill>
                  <a:srgbClr val="FF0000"/>
                </a:solidFill>
              </a:rPr>
              <a:t>Q</a:t>
            </a:r>
            <a:r>
              <a:rPr lang="zh-TW" altLang="en-US" b="1" dirty="0">
                <a:solidFill>
                  <a:srgbClr val="FF0000"/>
                </a:solidFill>
              </a:rPr>
              <a:t>有順利</a:t>
            </a:r>
            <a:r>
              <a:rPr lang="en-US" altLang="zh-TW" b="1" dirty="0">
                <a:solidFill>
                  <a:srgbClr val="FF0000"/>
                </a:solidFill>
              </a:rPr>
              <a:t>pass</a:t>
            </a:r>
            <a:r>
              <a:rPr lang="zh-TW" altLang="en-US" b="1" dirty="0">
                <a:solidFill>
                  <a:srgbClr val="FF0000"/>
                </a:solidFill>
              </a:rPr>
              <a:t> </a:t>
            </a:r>
            <a:r>
              <a:rPr lang="en-US" altLang="zh-TW" b="1" dirty="0">
                <a:solidFill>
                  <a:srgbClr val="FF0000"/>
                </a:solidFill>
              </a:rPr>
              <a:t>D</a:t>
            </a:r>
            <a:r>
              <a:rPr lang="zh-TW" altLang="en-US" b="1" dirty="0">
                <a:solidFill>
                  <a:srgbClr val="FF0000"/>
                </a:solidFill>
              </a:rPr>
              <a:t>值的圖</a:t>
            </a:r>
            <a:endParaRPr lang="en-US" altLang="zh-TW" b="1" dirty="0">
              <a:solidFill>
                <a:srgbClr val="FF0000"/>
              </a:solidFill>
            </a:endParaRPr>
          </a:p>
          <a:p>
            <a:pPr marL="0" marR="0" lvl="0" indent="0" algn="l" defTabSz="914400" rtl="0" eaLnBrk="0" fontAlgn="base" latinLnBrk="0" hangingPunct="0">
              <a:lnSpc>
                <a:spcPct val="100000"/>
              </a:lnSpc>
              <a:spcBef>
                <a:spcPts val="600"/>
              </a:spcBef>
              <a:spcAft>
                <a:spcPct val="0"/>
              </a:spcAft>
              <a:buClrTx/>
              <a:buSzTx/>
              <a:buFontTx/>
              <a:buNone/>
              <a:tabLst/>
              <a:defRPr/>
            </a:pPr>
            <a:r>
              <a:rPr lang="zh-TW" altLang="en-US" b="0" dirty="0"/>
              <a:t>使用</a:t>
            </a:r>
            <a:r>
              <a:rPr lang="en-US" altLang="zh-TW" b="0" dirty="0"/>
              <a:t>measure </a:t>
            </a:r>
            <a:r>
              <a:rPr lang="zh-TW" altLang="en-US" b="0" dirty="0"/>
              <a:t>可以量測到</a:t>
            </a:r>
            <a:r>
              <a:rPr lang="en-US" altLang="zh-TW" b="0" dirty="0" err="1"/>
              <a:t>Tdc</a:t>
            </a:r>
            <a:r>
              <a:rPr lang="zh-TW" altLang="en-US" b="0" dirty="0"/>
              <a:t>值是多少時</a:t>
            </a:r>
            <a:r>
              <a:rPr lang="en-US" altLang="zh-TW" b="0" dirty="0" err="1"/>
              <a:t>Tpcq</a:t>
            </a:r>
            <a:r>
              <a:rPr lang="zh-TW" altLang="en-US" b="0" dirty="0"/>
              <a:t>能順利量測到。</a:t>
            </a:r>
            <a:r>
              <a:rPr lang="zh-TW" altLang="en-US" b="1" dirty="0">
                <a:solidFill>
                  <a:srgbClr val="FF0000"/>
                </a:solidFill>
              </a:rPr>
              <a:t>你需要截圖上一個</a:t>
            </a:r>
            <a:r>
              <a:rPr lang="en-US" altLang="zh-TW" b="1" dirty="0" err="1">
                <a:solidFill>
                  <a:srgbClr val="FF0000"/>
                </a:solidFill>
              </a:rPr>
              <a:t>Tdc</a:t>
            </a:r>
            <a:r>
              <a:rPr lang="zh-TW" altLang="en-US" b="1" dirty="0">
                <a:solidFill>
                  <a:srgbClr val="FF0000"/>
                </a:solidFill>
              </a:rPr>
              <a:t>失敗但是下一個</a:t>
            </a:r>
            <a:r>
              <a:rPr lang="en-US" altLang="zh-TW" b="1" dirty="0" err="1">
                <a:solidFill>
                  <a:srgbClr val="FF0000"/>
                </a:solidFill>
              </a:rPr>
              <a:t>Tdc</a:t>
            </a:r>
            <a:r>
              <a:rPr lang="zh-TW" altLang="en-US" b="1" dirty="0">
                <a:solidFill>
                  <a:srgbClr val="FF0000"/>
                </a:solidFill>
              </a:rPr>
              <a:t>成功的圖</a:t>
            </a:r>
            <a:endParaRPr lang="en-US" altLang="zh-TW" b="1" dirty="0">
              <a:solidFill>
                <a:srgbClr val="FF0000"/>
              </a:solidFill>
            </a:endParaRPr>
          </a:p>
          <a:p>
            <a:endParaRPr lang="zh-TW" altLang="en-US" b="0" dirty="0"/>
          </a:p>
        </p:txBody>
      </p:sp>
      <p:sp>
        <p:nvSpPr>
          <p:cNvPr id="4" name="投影片編號版面配置區 3"/>
          <p:cNvSpPr>
            <a:spLocks noGrp="1"/>
          </p:cNvSpPr>
          <p:nvPr>
            <p:ph type="sldNum" sz="quarter" idx="5"/>
          </p:nvPr>
        </p:nvSpPr>
        <p:spPr/>
        <p:txBody>
          <a:bodyPr/>
          <a:lstStyle/>
          <a:p>
            <a:pPr>
              <a:defRPr/>
            </a:pPr>
            <a:fld id="{3B16354E-6974-4833-AB87-3220A0835E84}" type="slidenum">
              <a:rPr lang="en-US" altLang="en-US" smtClean="0"/>
              <a:pPr>
                <a:defRPr/>
              </a:pPr>
              <a:t>5</a:t>
            </a:fld>
            <a:endParaRPr lang="en-US" altLang="en-US" dirty="0"/>
          </a:p>
        </p:txBody>
      </p:sp>
    </p:spTree>
    <p:extLst>
      <p:ext uri="{BB962C8B-B14F-4D97-AF65-F5344CB8AC3E}">
        <p14:creationId xmlns:p14="http://schemas.microsoft.com/office/powerpoint/2010/main" val="31608089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dirty="0"/>
              <a:t>將量測量出來的值填入</a:t>
            </a:r>
            <a:r>
              <a:rPr lang="en-US" altLang="zh-TW" b="0" dirty="0"/>
              <a:t>word</a:t>
            </a:r>
            <a:r>
              <a:rPr lang="zh-TW" altLang="en-US" b="0" dirty="0"/>
              <a:t>檔以及貼上截圖</a:t>
            </a:r>
          </a:p>
        </p:txBody>
      </p:sp>
      <p:sp>
        <p:nvSpPr>
          <p:cNvPr id="4" name="投影片編號版面配置區 3"/>
          <p:cNvSpPr>
            <a:spLocks noGrp="1"/>
          </p:cNvSpPr>
          <p:nvPr>
            <p:ph type="sldNum" sz="quarter" idx="5"/>
          </p:nvPr>
        </p:nvSpPr>
        <p:spPr/>
        <p:txBody>
          <a:bodyPr/>
          <a:lstStyle/>
          <a:p>
            <a:pPr>
              <a:defRPr/>
            </a:pPr>
            <a:fld id="{3B16354E-6974-4833-AB87-3220A0835E84}" type="slidenum">
              <a:rPr lang="en-US" altLang="en-US" smtClean="0"/>
              <a:pPr>
                <a:defRPr/>
              </a:pPr>
              <a:t>6</a:t>
            </a:fld>
            <a:endParaRPr lang="en-US" altLang="en-US" dirty="0"/>
          </a:p>
        </p:txBody>
      </p:sp>
    </p:spTree>
    <p:extLst>
      <p:ext uri="{BB962C8B-B14F-4D97-AF65-F5344CB8AC3E}">
        <p14:creationId xmlns:p14="http://schemas.microsoft.com/office/powerpoint/2010/main" val="908006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b="0" dirty="0"/>
          </a:p>
        </p:txBody>
      </p:sp>
      <p:sp>
        <p:nvSpPr>
          <p:cNvPr id="4" name="投影片編號版面配置區 3"/>
          <p:cNvSpPr>
            <a:spLocks noGrp="1"/>
          </p:cNvSpPr>
          <p:nvPr>
            <p:ph type="sldNum" sz="quarter" idx="5"/>
          </p:nvPr>
        </p:nvSpPr>
        <p:spPr/>
        <p:txBody>
          <a:bodyPr/>
          <a:lstStyle/>
          <a:p>
            <a:pPr>
              <a:defRPr/>
            </a:pPr>
            <a:fld id="{3B16354E-6974-4833-AB87-3220A0835E84}" type="slidenum">
              <a:rPr lang="en-US" altLang="en-US" smtClean="0"/>
              <a:pPr>
                <a:defRPr/>
              </a:pPr>
              <a:t>7</a:t>
            </a:fld>
            <a:endParaRPr lang="en-US" altLang="en-US" dirty="0"/>
          </a:p>
        </p:txBody>
      </p:sp>
    </p:spTree>
    <p:extLst>
      <p:ext uri="{BB962C8B-B14F-4D97-AF65-F5344CB8AC3E}">
        <p14:creationId xmlns:p14="http://schemas.microsoft.com/office/powerpoint/2010/main" val="121963790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0_Title Slide">
    <p:bg>
      <p:bgPr>
        <a:solidFill>
          <a:schemeClr val="accent1"/>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380BE67C-B00B-7444-99B6-10A3997029B2}"/>
              </a:ext>
            </a:extLst>
          </p:cNvPr>
          <p:cNvPicPr>
            <a:picLocks noChangeAspect="1"/>
          </p:cNvPicPr>
          <p:nvPr userDrawn="1"/>
        </p:nvPicPr>
        <p:blipFill rotWithShape="1">
          <a:blip r:embed="rId2">
            <a:alphaModFix amt="60000"/>
            <a:extLst>
              <a:ext uri="{28A0092B-C50C-407E-A947-70E740481C1C}">
                <a14:useLocalDpi xmlns:a14="http://schemas.microsoft.com/office/drawing/2010/main"/>
              </a:ext>
            </a:extLst>
          </a:blip>
          <a:srcRect l="2082" t="3803" r="2134" b="12930"/>
          <a:stretch/>
        </p:blipFill>
        <p:spPr>
          <a:xfrm>
            <a:off x="0" y="492549"/>
            <a:ext cx="12192000" cy="6857999"/>
          </a:xfrm>
          <a:prstGeom prst="rect">
            <a:avLst/>
          </a:prstGeom>
        </p:spPr>
      </p:pic>
      <p:sp>
        <p:nvSpPr>
          <p:cNvPr id="26" name="Title 1">
            <a:extLst>
              <a:ext uri="{FF2B5EF4-FFF2-40B4-BE49-F238E27FC236}">
                <a16:creationId xmlns:a16="http://schemas.microsoft.com/office/drawing/2014/main" id="{42EC3731-9F30-0D4B-A054-E13DBA0EEDFB}"/>
              </a:ext>
            </a:extLst>
          </p:cNvPr>
          <p:cNvSpPr>
            <a:spLocks noGrp="1"/>
          </p:cNvSpPr>
          <p:nvPr>
            <p:ph type="title" hasCustomPrompt="1"/>
          </p:nvPr>
        </p:nvSpPr>
        <p:spPr>
          <a:xfrm>
            <a:off x="6096000" y="3037466"/>
            <a:ext cx="5113338" cy="1519514"/>
          </a:xfrm>
        </p:spPr>
        <p:txBody>
          <a:bodyPr anchor="t" anchorCtr="0"/>
          <a:lstStyle>
            <a:lvl1pPr algn="r">
              <a:lnSpc>
                <a:spcPct val="85000"/>
              </a:lnSpc>
              <a:defRPr sz="5500" b="0" spc="-100" baseline="0">
                <a:solidFill>
                  <a:schemeClr val="bg1"/>
                </a:solidFill>
              </a:defRPr>
            </a:lvl1pPr>
          </a:lstStyle>
          <a:p>
            <a:r>
              <a:rPr lang="en-US" dirty="0"/>
              <a:t>Click to Edit </a:t>
            </a:r>
            <a:br>
              <a:rPr lang="en-US" dirty="0"/>
            </a:br>
            <a:r>
              <a:rPr lang="en-US" dirty="0"/>
              <a:t>Divider Page Title</a:t>
            </a:r>
          </a:p>
        </p:txBody>
      </p:sp>
      <p:sp>
        <p:nvSpPr>
          <p:cNvPr id="28" name="Subtitle 2">
            <a:extLst>
              <a:ext uri="{FF2B5EF4-FFF2-40B4-BE49-F238E27FC236}">
                <a16:creationId xmlns:a16="http://schemas.microsoft.com/office/drawing/2014/main" id="{1499DC14-57F4-EA4C-ABBC-0ECD735C407B}"/>
              </a:ext>
            </a:extLst>
          </p:cNvPr>
          <p:cNvSpPr>
            <a:spLocks noGrp="1"/>
          </p:cNvSpPr>
          <p:nvPr>
            <p:ph type="subTitle" idx="1"/>
          </p:nvPr>
        </p:nvSpPr>
        <p:spPr>
          <a:xfrm>
            <a:off x="6095999" y="4556980"/>
            <a:ext cx="5113338" cy="702444"/>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Master subtitle style</a:t>
            </a:r>
            <a:endParaRPr lang="en-GB" dirty="0"/>
          </a:p>
        </p:txBody>
      </p:sp>
      <p:pic>
        <p:nvPicPr>
          <p:cNvPr id="29" name="Picture 16">
            <a:extLst>
              <a:ext uri="{FF2B5EF4-FFF2-40B4-BE49-F238E27FC236}">
                <a16:creationId xmlns:a16="http://schemas.microsoft.com/office/drawing/2014/main" id="{0A94567B-B8A8-AB41-BF7F-41919C86BD2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9531972" y="1173991"/>
            <a:ext cx="1677366" cy="513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13727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Column Slide with TOP level Bulle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6250"/>
            <a:ext cx="11233150" cy="654760"/>
          </a:xfrm>
        </p:spPr>
        <p:txBody>
          <a:bodyPr anchor="t"/>
          <a:lstStyle>
            <a:lvl1pPr>
              <a:defRPr b="0"/>
            </a:lvl1pPr>
          </a:lstStyle>
          <a:p>
            <a:r>
              <a:rPr lang="en-US" dirty="0"/>
              <a:t>Click to Edit Master Title Style</a:t>
            </a:r>
          </a:p>
        </p:txBody>
      </p:sp>
      <p:sp>
        <p:nvSpPr>
          <p:cNvPr id="4" name="Text Placeholder 2"/>
          <p:cNvSpPr>
            <a:spLocks noGrp="1"/>
          </p:cNvSpPr>
          <p:nvPr>
            <p:ph idx="1" hasCustomPrompt="1"/>
          </p:nvPr>
        </p:nvSpPr>
        <p:spPr>
          <a:xfrm>
            <a:off x="479425" y="1171111"/>
            <a:ext cx="11233150" cy="4086225"/>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marL="672783">
              <a:lnSpc>
                <a:spcPct val="100000"/>
              </a:lnSpc>
              <a:spcAft>
                <a:spcPts val="0"/>
              </a:spcAft>
              <a:defRPr sz="2000">
                <a:solidFill>
                  <a:schemeClr val="tx2"/>
                </a:solidFill>
              </a:defRPr>
            </a:lvl2pPr>
            <a:lvl3pPr marL="947103">
              <a:lnSpc>
                <a:spcPct val="100000"/>
              </a:lnSpc>
              <a:spcAft>
                <a:spcPts val="0"/>
              </a:spcAft>
              <a:defRPr sz="1800">
                <a:solidFill>
                  <a:schemeClr val="tx2"/>
                </a:solidFill>
              </a:defRPr>
            </a:lvl3pPr>
            <a:lvl4pPr marL="1293178">
              <a:lnSpc>
                <a:spcPct val="100000"/>
              </a:lnSpc>
              <a:spcAft>
                <a:spcPts val="0"/>
              </a:spcAft>
              <a:defRPr sz="1800">
                <a:solidFill>
                  <a:schemeClr val="tx2"/>
                </a:solidFill>
              </a:defRPr>
            </a:lvl4pPr>
            <a:lvl5pPr marL="1518603">
              <a:lnSpc>
                <a:spcPct val="100000"/>
              </a:lnSpc>
              <a:spcAft>
                <a:spcPts val="0"/>
              </a:spcAft>
              <a:defRPr sz="180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Master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30"/>
          </a:xfrm>
        </p:spPr>
        <p:txBody>
          <a:bodyPr anchor="t"/>
          <a:lstStyle/>
          <a:p>
            <a:r>
              <a:rPr lang="en-US" dirty="0"/>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7" name="Text Placeholder 2"/>
          <p:cNvSpPr>
            <a:spLocks noGrp="1"/>
          </p:cNvSpPr>
          <p:nvPr>
            <p:ph idx="1"/>
          </p:nvPr>
        </p:nvSpPr>
        <p:spPr>
          <a:xfrm>
            <a:off x="479425" y="1554490"/>
            <a:ext cx="11233150" cy="4087104"/>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a:lnSpc>
                <a:spcPct val="100000"/>
              </a:lnSpc>
              <a:spcAft>
                <a:spcPts val="0"/>
              </a:spcAft>
              <a:buClr>
                <a:schemeClr val="accent1"/>
              </a:buClr>
              <a:defRPr sz="2000">
                <a:solidFill>
                  <a:schemeClr val="tx2"/>
                </a:solidFill>
              </a:defRPr>
            </a:lvl2pPr>
            <a:lvl3pPr>
              <a:lnSpc>
                <a:spcPct val="100000"/>
              </a:lnSpc>
              <a:spcAft>
                <a:spcPts val="0"/>
              </a:spcAft>
              <a:buClr>
                <a:schemeClr val="accent1"/>
              </a:buClr>
              <a:defRPr>
                <a:solidFill>
                  <a:schemeClr val="tx2"/>
                </a:solidFill>
              </a:defRPr>
            </a:lvl3pPr>
            <a:lvl4pPr>
              <a:lnSpc>
                <a:spcPct val="100000"/>
              </a:lnSpc>
              <a:spcAft>
                <a:spcPts val="0"/>
              </a:spcAft>
              <a:buClr>
                <a:schemeClr val="accent1"/>
              </a:buClr>
              <a:defRPr>
                <a:solidFill>
                  <a:schemeClr val="tx2"/>
                </a:solidFill>
              </a:defRPr>
            </a:lvl4pPr>
            <a:lvl5pPr>
              <a:lnSpc>
                <a:spcPct val="100000"/>
              </a:lnSpc>
              <a:spcAft>
                <a:spcPts val="0"/>
              </a:spcAft>
              <a:buClr>
                <a:schemeClr val="accent1"/>
              </a:buCl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47750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83333C0-34BE-704E-807B-860FBC2357B2}"/>
              </a:ext>
            </a:extLst>
          </p:cNvPr>
          <p:cNvPicPr>
            <a:picLocks noChangeAspect="1"/>
          </p:cNvPicPr>
          <p:nvPr userDrawn="1"/>
        </p:nvPicPr>
        <p:blipFill rotWithShape="1">
          <a:blip r:embed="rId2">
            <a:alphaModFix amt="60000"/>
            <a:extLst>
              <a:ext uri="{28A0092B-C50C-407E-A947-70E740481C1C}">
                <a14:useLocalDpi xmlns:a14="http://schemas.microsoft.com/office/drawing/2010/main"/>
              </a:ext>
            </a:extLst>
          </a:blip>
          <a:srcRect l="2082" t="3803" r="2134" b="12930"/>
          <a:stretch/>
        </p:blipFill>
        <p:spPr>
          <a:xfrm>
            <a:off x="0" y="1"/>
            <a:ext cx="12192000" cy="6857999"/>
          </a:xfrm>
          <a:prstGeom prst="rect">
            <a:avLst/>
          </a:prstGeom>
        </p:spPr>
      </p:pic>
      <p:sp>
        <p:nvSpPr>
          <p:cNvPr id="6" name="Rectangle 5"/>
          <p:cNvSpPr>
            <a:spLocks noChangeArrowheads="1"/>
          </p:cNvSpPr>
          <p:nvPr userDrawn="1"/>
        </p:nvSpPr>
        <p:spPr bwMode="auto">
          <a:xfrm>
            <a:off x="7078942" y="1087378"/>
            <a:ext cx="423330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r">
              <a:defRPr/>
            </a:pPr>
            <a:r>
              <a:rPr lang="en-US" altLang="x-none" sz="1200" dirty="0">
                <a:solidFill>
                  <a:schemeClr val="bg1"/>
                </a:solidFill>
              </a:rPr>
              <a:t>The Arm trademarks featured in this presentation are registered trademarks or trademarks of Arm Limited (or its subsidiaries) in the US and/or elsewhere.  All rights reserved.  All other marks featured may be trademarks of their respective owners.</a:t>
            </a:r>
          </a:p>
          <a:p>
            <a:pPr algn="r">
              <a:defRPr/>
            </a:pPr>
            <a:br>
              <a:rPr lang="en-US" altLang="x-none" sz="1200" dirty="0">
                <a:solidFill>
                  <a:schemeClr val="bg1"/>
                </a:solidFill>
              </a:rPr>
            </a:br>
            <a:r>
              <a:rPr lang="en-US" altLang="x-none" sz="1200" dirty="0">
                <a:solidFill>
                  <a:schemeClr val="bg1"/>
                </a:solidFill>
              </a:rPr>
              <a:t>www.arm.com/company/policies/trademarks</a:t>
            </a:r>
          </a:p>
        </p:txBody>
      </p:sp>
      <p:pic>
        <p:nvPicPr>
          <p:cNvPr id="10" name="Picture 16">
            <a:extLst>
              <a:ext uri="{FF2B5EF4-FFF2-40B4-BE49-F238E27FC236}">
                <a16:creationId xmlns:a16="http://schemas.microsoft.com/office/drawing/2014/main" id="{DAF95499-8272-DF43-8B3C-788EA26EBDD5}"/>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982663" y="1173991"/>
            <a:ext cx="1677366" cy="513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0716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2DB8D9BB-3459-D340-9696-6FE47FF1EF1A}"/>
              </a:ext>
            </a:extLst>
          </p:cNvPr>
          <p:cNvSpPr>
            <a:spLocks noGrp="1" noChangeArrowheads="1"/>
          </p:cNvSpPr>
          <p:nvPr>
            <p:ph type="ftr" sz="quarter" idx="10"/>
          </p:nvPr>
        </p:nvSpPr>
        <p:spPr>
          <a:ln/>
        </p:spPr>
        <p:txBody>
          <a:bodyPr/>
          <a:lstStyle>
            <a:lvl1pPr>
              <a:defRPr/>
            </a:lvl1pPr>
          </a:lstStyle>
          <a:p>
            <a:pPr>
              <a:defRPr/>
            </a:pPr>
            <a:r>
              <a:rPr lang="en-US" dirty="0"/>
              <a:t>8: SPICE Simulation</a:t>
            </a:r>
          </a:p>
        </p:txBody>
      </p:sp>
      <p:sp>
        <p:nvSpPr>
          <p:cNvPr id="5" name="Rectangle 6">
            <a:extLst>
              <a:ext uri="{FF2B5EF4-FFF2-40B4-BE49-F238E27FC236}">
                <a16:creationId xmlns:a16="http://schemas.microsoft.com/office/drawing/2014/main" id="{F6BC22D6-047E-3C49-B308-CB71A8BD338F}"/>
              </a:ext>
            </a:extLst>
          </p:cNvPr>
          <p:cNvSpPr>
            <a:spLocks noGrp="1" noChangeArrowheads="1"/>
          </p:cNvSpPr>
          <p:nvPr>
            <p:ph type="sldNum" sz="quarter" idx="11"/>
          </p:nvPr>
        </p:nvSpPr>
        <p:spPr>
          <a:ln/>
        </p:spPr>
        <p:txBody>
          <a:bodyPr/>
          <a:lstStyle>
            <a:lvl1pPr>
              <a:defRPr/>
            </a:lvl1pPr>
          </a:lstStyle>
          <a:p>
            <a:fld id="{639DF538-D550-8F4D-86E6-D1C72E24C84B}" type="slidenum">
              <a:rPr lang="en-US" altLang="en-US"/>
              <a:pPr/>
              <a:t>‹#›</a:t>
            </a:fld>
            <a:endParaRPr lang="en-US" altLang="en-US" dirty="0"/>
          </a:p>
        </p:txBody>
      </p:sp>
    </p:spTree>
    <p:extLst>
      <p:ext uri="{BB962C8B-B14F-4D97-AF65-F5344CB8AC3E}">
        <p14:creationId xmlns:p14="http://schemas.microsoft.com/office/powerpoint/2010/main" val="2487651437"/>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9425" y="478301"/>
            <a:ext cx="11233150" cy="654760"/>
          </a:xfrm>
          <a:prstGeom prst="rect">
            <a:avLst/>
          </a:prstGeom>
        </p:spPr>
        <p:txBody>
          <a:bodyPr vert="horz" lIns="0" tIns="0" rIns="0" bIns="0" rtlCol="0" anchor="t">
            <a:noAutofit/>
          </a:bodyPr>
          <a:lstStyle/>
          <a:p>
            <a:r>
              <a:rPr lang="en-US"/>
              <a:t>Click to edit Master title style</a:t>
            </a:r>
            <a:endParaRPr lang="en-US" dirty="0"/>
          </a:p>
        </p:txBody>
      </p:sp>
      <p:sp>
        <p:nvSpPr>
          <p:cNvPr id="1029" name="TextBox 26"/>
          <p:cNvSpPr txBox="1">
            <a:spLocks noChangeArrowheads="1"/>
          </p:cNvSpPr>
          <p:nvPr userDrawn="1"/>
        </p:nvSpPr>
        <p:spPr bwMode="auto">
          <a:xfrm>
            <a:off x="492125" y="6410643"/>
            <a:ext cx="312738"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2682C2D1-8EA8-E748-B66F-74D4D53CF8F8}"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dirty="0">
              <a:solidFill>
                <a:srgbClr val="7F7F7F"/>
              </a:solidFill>
            </a:endParaRP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479425" y="1133061"/>
            <a:ext cx="11243088" cy="460098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Box 20"/>
          <p:cNvSpPr txBox="1">
            <a:spLocks noChangeArrowheads="1"/>
          </p:cNvSpPr>
          <p:nvPr userDrawn="1"/>
        </p:nvSpPr>
        <p:spPr bwMode="auto">
          <a:xfrm>
            <a:off x="982663" y="6413179"/>
            <a:ext cx="1561617" cy="138499"/>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600"/>
              </a:spcAft>
              <a:buFont typeface="Arial" charset="0"/>
              <a:buNone/>
              <a:defRPr/>
            </a:pPr>
            <a:r>
              <a:rPr lang="en-US" altLang="en-US" sz="1000" dirty="0">
                <a:solidFill>
                  <a:srgbClr val="7F7F7F"/>
                </a:solidFill>
              </a:rPr>
              <a:t>© 2020 Arm Limited </a:t>
            </a:r>
          </a:p>
        </p:txBody>
      </p:sp>
      <p:pic>
        <p:nvPicPr>
          <p:cNvPr id="3" name="Picture 2">
            <a:extLst>
              <a:ext uri="{FF2B5EF4-FFF2-40B4-BE49-F238E27FC236}">
                <a16:creationId xmlns:a16="http://schemas.microsoft.com/office/drawing/2014/main" id="{9A012347-3565-314A-935A-F06376FE34D5}"/>
              </a:ext>
            </a:extLst>
          </p:cNvPr>
          <p:cNvPicPr>
            <a:picLocks noChangeAspect="1"/>
          </p:cNvPicPr>
          <p:nvPr userDrawn="1"/>
        </p:nvPicPr>
        <p:blipFill>
          <a:blip r:embed="rId7"/>
          <a:stretch>
            <a:fillRect/>
          </a:stretch>
        </p:blipFill>
        <p:spPr>
          <a:xfrm>
            <a:off x="10938720" y="6378893"/>
            <a:ext cx="774267" cy="23683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10" r:id="rId1"/>
    <p:sldLayoutId id="2147485440" r:id="rId2"/>
    <p:sldLayoutId id="2147485441" r:id="rId3"/>
    <p:sldLayoutId id="2147485453" r:id="rId4"/>
    <p:sldLayoutId id="2147485511" r:id="rId5"/>
  </p:sldLayoutIdLst>
  <p:hf sldNum="0" hdr="0" ftr="0" dt="0"/>
  <p:txStyles>
    <p:titleStyle>
      <a:lvl1pPr algn="l" rtl="0" eaLnBrk="1" fontAlgn="base" hangingPunct="1">
        <a:lnSpc>
          <a:spcPct val="85000"/>
        </a:lnSpc>
        <a:spcBef>
          <a:spcPct val="0"/>
        </a:spcBef>
        <a:spcAft>
          <a:spcPct val="0"/>
        </a:spcAft>
        <a:defRPr sz="3600" b="0" kern="1200" spc="-50">
          <a:solidFill>
            <a:schemeClr val="accent1"/>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8383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8383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619" userDrawn="1">
          <p15:clr>
            <a:srgbClr val="F26B43"/>
          </p15:clr>
        </p15:guide>
        <p15:guide id="4" orient="horz" pos="300" userDrawn="1">
          <p15:clr>
            <a:srgbClr val="F26B43"/>
          </p15:clr>
        </p15:guide>
        <p15:guide id="5" orient="horz" pos="4020" userDrawn="1">
          <p15:clr>
            <a:srgbClr val="F26B43"/>
          </p15:clr>
        </p15:guide>
        <p15:guide id="6" pos="7378" userDrawn="1">
          <p15:clr>
            <a:srgbClr val="F26B43"/>
          </p15:clr>
        </p15:guide>
        <p15:guide id="7" pos="302" userDrawn="1">
          <p15:clr>
            <a:srgbClr val="F26B43"/>
          </p15:clr>
        </p15:guide>
        <p15:guide id="8" pos="706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hyperlink" Target="https://drive.google.com/drive/folders/1G7GUcM4EhRTh12nBjwicA8oEK4ZrtAXm?usp=drive_link"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CA0B73-6832-35AC-A996-8159BA0B22AF}"/>
              </a:ext>
            </a:extLst>
          </p:cNvPr>
          <p:cNvSpPr>
            <a:spLocks noGrp="1"/>
          </p:cNvSpPr>
          <p:nvPr>
            <p:ph type="title"/>
          </p:nvPr>
        </p:nvSpPr>
        <p:spPr/>
        <p:txBody>
          <a:bodyPr/>
          <a:lstStyle/>
          <a:p>
            <a:r>
              <a:rPr lang="en-US" altLang="zh-TW" dirty="0"/>
              <a:t>Lab #1 Spice Simulation</a:t>
            </a:r>
            <a:endParaRPr lang="zh-TW" altLang="en-US" dirty="0"/>
          </a:p>
        </p:txBody>
      </p:sp>
      <p:sp>
        <p:nvSpPr>
          <p:cNvPr id="3" name="內容版面配置區 2">
            <a:extLst>
              <a:ext uri="{FF2B5EF4-FFF2-40B4-BE49-F238E27FC236}">
                <a16:creationId xmlns:a16="http://schemas.microsoft.com/office/drawing/2014/main" id="{55BD2C3E-055D-5DE6-6CE3-5F95A77A647C}"/>
              </a:ext>
            </a:extLst>
          </p:cNvPr>
          <p:cNvSpPr>
            <a:spLocks noGrp="1"/>
          </p:cNvSpPr>
          <p:nvPr>
            <p:ph idx="1"/>
          </p:nvPr>
        </p:nvSpPr>
        <p:spPr>
          <a:xfrm>
            <a:off x="479425" y="1133061"/>
            <a:ext cx="11243088" cy="5848507"/>
          </a:xfrm>
        </p:spPr>
        <p:txBody>
          <a:bodyPr>
            <a:normAutofit/>
          </a:bodyPr>
          <a:lstStyle/>
          <a:p>
            <a:pPr lvl="1"/>
            <a:r>
              <a:rPr lang="zh-TW" altLang="en-US" dirty="0"/>
              <a:t>作業繳交截止日期</a:t>
            </a:r>
            <a:r>
              <a:rPr lang="en-US" altLang="zh-TW" dirty="0"/>
              <a:t>: </a:t>
            </a:r>
            <a:r>
              <a:rPr lang="en-US" altLang="zh-TW" dirty="0">
                <a:highlight>
                  <a:srgbClr val="FFFF00"/>
                </a:highlight>
              </a:rPr>
              <a:t>May 12, 2025, 23:59 (2 weeks)</a:t>
            </a:r>
          </a:p>
          <a:p>
            <a:pPr marL="506095" lvl="1" indent="0">
              <a:buNone/>
            </a:pPr>
            <a:r>
              <a:rPr lang="en-US" altLang="zh-TW" dirty="0"/>
              <a:t>	(</a:t>
            </a:r>
            <a:r>
              <a:rPr lang="zh-TW" altLang="en-US" dirty="0"/>
              <a:t>上傳</a:t>
            </a:r>
            <a:r>
              <a:rPr lang="en-US" altLang="zh-TW" dirty="0">
                <a:highlight>
                  <a:srgbClr val="FFFF00"/>
                </a:highlight>
              </a:rPr>
              <a:t>E3</a:t>
            </a:r>
            <a:r>
              <a:rPr lang="zh-TW" altLang="en-US" dirty="0">
                <a:highlight>
                  <a:srgbClr val="FFFF00"/>
                </a:highlight>
              </a:rPr>
              <a:t>數位平台</a:t>
            </a:r>
            <a:r>
              <a:rPr lang="zh-TW" altLang="en-US" dirty="0"/>
              <a:t>繳交</a:t>
            </a:r>
            <a:r>
              <a:rPr lang="en-US" altLang="zh-TW" dirty="0"/>
              <a:t>) </a:t>
            </a:r>
          </a:p>
          <a:p>
            <a:pPr marL="506095" lvl="1" indent="0">
              <a:buNone/>
            </a:pPr>
            <a:r>
              <a:rPr lang="en-US" altLang="zh-TW" dirty="0"/>
              <a:t>	</a:t>
            </a:r>
            <a:r>
              <a:rPr lang="en-US" altLang="zh-TW" b="0" i="0" dirty="0">
                <a:solidFill>
                  <a:srgbClr val="1D2125"/>
                </a:solidFill>
                <a:effectLst/>
                <a:latin typeface="-apple-system"/>
              </a:rPr>
              <a:t>24 hours after the deadline: 20% penalty</a:t>
            </a:r>
          </a:p>
          <a:p>
            <a:pPr marL="506095" lvl="1" indent="0">
              <a:buNone/>
            </a:pPr>
            <a:r>
              <a:rPr lang="en-US" altLang="zh-TW" b="0" i="0" dirty="0">
                <a:solidFill>
                  <a:srgbClr val="1D2125"/>
                </a:solidFill>
                <a:effectLst/>
                <a:latin typeface="-apple-system"/>
              </a:rPr>
              <a:t>	48 hours after the deadline: 50% penalty</a:t>
            </a:r>
          </a:p>
          <a:p>
            <a:pPr marL="506095" lvl="1" indent="0">
              <a:buNone/>
            </a:pPr>
            <a:r>
              <a:rPr lang="en-US" altLang="zh-TW" dirty="0">
                <a:solidFill>
                  <a:srgbClr val="1D2125"/>
                </a:solidFill>
                <a:latin typeface="-apple-system"/>
              </a:rPr>
              <a:t>	</a:t>
            </a:r>
            <a:r>
              <a:rPr lang="en-US" altLang="zh-TW" b="0" i="0" dirty="0">
                <a:solidFill>
                  <a:srgbClr val="FF0000"/>
                </a:solidFill>
                <a:effectLst/>
                <a:latin typeface="-apple-system"/>
              </a:rPr>
              <a:t>No submissions accepted after 48 hours</a:t>
            </a:r>
            <a:endParaRPr lang="en-US" altLang="zh-TW" dirty="0">
              <a:solidFill>
                <a:srgbClr val="FF0000"/>
              </a:solidFill>
            </a:endParaRPr>
          </a:p>
          <a:p>
            <a:pPr lvl="1"/>
            <a:r>
              <a:rPr lang="zh-TW" altLang="en-US" dirty="0"/>
              <a:t>檔案：</a:t>
            </a:r>
            <a:endParaRPr lang="en-US" altLang="zh-TW" dirty="0"/>
          </a:p>
          <a:p>
            <a:pPr marL="871855" lvl="1" indent="-457200">
              <a:buFont typeface="+mj-lt"/>
              <a:buAutoNum type="arabicPeriod"/>
            </a:pPr>
            <a:r>
              <a:rPr lang="zh-TW" altLang="en-US" dirty="0"/>
              <a:t> </a:t>
            </a:r>
            <a:r>
              <a:rPr lang="en-US" altLang="zh-TW" dirty="0"/>
              <a:t>VLSI_Lab1_</a:t>
            </a:r>
            <a:r>
              <a:rPr lang="zh-TW" altLang="en-US" dirty="0"/>
              <a:t>學號</a:t>
            </a:r>
            <a:r>
              <a:rPr lang="en-US" altLang="zh-TW" dirty="0"/>
              <a:t>.pdf (VLSI_ Lab1_112345678.pdf) </a:t>
            </a:r>
            <a:r>
              <a:rPr lang="zh-TW" altLang="en-US" dirty="0"/>
              <a:t> 請完成</a:t>
            </a:r>
            <a:r>
              <a:rPr lang="en-US" altLang="zh-TW" dirty="0"/>
              <a:t>Word</a:t>
            </a:r>
            <a:r>
              <a:rPr lang="zh-TW" altLang="en-US" dirty="0"/>
              <a:t>檔並將檔案轉成</a:t>
            </a:r>
            <a:r>
              <a:rPr lang="en-US" altLang="zh-TW" dirty="0"/>
              <a:t>PDF</a:t>
            </a:r>
            <a:r>
              <a:rPr lang="zh-TW" altLang="en-US" dirty="0"/>
              <a:t>格式</a:t>
            </a:r>
            <a:endParaRPr lang="en-US" altLang="zh-TW" dirty="0"/>
          </a:p>
          <a:p>
            <a:pPr marL="871855" lvl="1" indent="-457200">
              <a:buFont typeface="+mj-lt"/>
              <a:buAutoNum type="arabicPeriod"/>
            </a:pPr>
            <a:r>
              <a:rPr lang="en-US" altLang="zh-TW" dirty="0"/>
              <a:t>Lab1_</a:t>
            </a:r>
            <a:r>
              <a:rPr lang="zh-TW" altLang="en-US" dirty="0"/>
              <a:t>學號</a:t>
            </a:r>
            <a:r>
              <a:rPr lang="en-US" altLang="zh-TW" dirty="0"/>
              <a:t>.</a:t>
            </a:r>
            <a:r>
              <a:rPr lang="en-US" altLang="zh-TW" dirty="0" err="1"/>
              <a:t>sp</a:t>
            </a:r>
            <a:r>
              <a:rPr lang="en-US" altLang="zh-TW" dirty="0"/>
              <a:t> (Lab1_112345678.sp) </a:t>
            </a:r>
          </a:p>
        </p:txBody>
      </p:sp>
    </p:spTree>
    <p:extLst>
      <p:ext uri="{BB962C8B-B14F-4D97-AF65-F5344CB8AC3E}">
        <p14:creationId xmlns:p14="http://schemas.microsoft.com/office/powerpoint/2010/main" val="2748968329"/>
      </p:ext>
    </p:extLst>
  </p:cSld>
  <p:clrMapOvr>
    <a:masterClrMapping/>
  </p:clrMapOvr>
  <p:transition>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CA0B73-6832-35AC-A996-8159BA0B22AF}"/>
              </a:ext>
            </a:extLst>
          </p:cNvPr>
          <p:cNvSpPr>
            <a:spLocks noGrp="1"/>
          </p:cNvSpPr>
          <p:nvPr>
            <p:ph type="title"/>
          </p:nvPr>
        </p:nvSpPr>
        <p:spPr/>
        <p:txBody>
          <a:bodyPr/>
          <a:lstStyle/>
          <a:p>
            <a:r>
              <a:rPr lang="en-US" altLang="zh-TW" dirty="0"/>
              <a:t>Lab #1 Spice Simulation</a:t>
            </a:r>
            <a:endParaRPr lang="zh-TW" altLang="en-US" dirty="0"/>
          </a:p>
        </p:txBody>
      </p:sp>
      <p:sp>
        <p:nvSpPr>
          <p:cNvPr id="3" name="內容版面配置區 2">
            <a:extLst>
              <a:ext uri="{FF2B5EF4-FFF2-40B4-BE49-F238E27FC236}">
                <a16:creationId xmlns:a16="http://schemas.microsoft.com/office/drawing/2014/main" id="{55BD2C3E-055D-5DE6-6CE3-5F95A77A647C}"/>
              </a:ext>
            </a:extLst>
          </p:cNvPr>
          <p:cNvSpPr>
            <a:spLocks noGrp="1"/>
          </p:cNvSpPr>
          <p:nvPr>
            <p:ph idx="1"/>
          </p:nvPr>
        </p:nvSpPr>
        <p:spPr>
          <a:xfrm>
            <a:off x="479425" y="1133061"/>
            <a:ext cx="11243088" cy="5848507"/>
          </a:xfrm>
        </p:spPr>
        <p:txBody>
          <a:bodyPr>
            <a:normAutofit fontScale="85000" lnSpcReduction="10000"/>
          </a:bodyPr>
          <a:lstStyle/>
          <a:p>
            <a:r>
              <a:rPr lang="en-US" altLang="zh-TW" dirty="0"/>
              <a:t>D-Flip-Flop (DFF) Timing Analysis and </a:t>
            </a:r>
            <a:r>
              <a:rPr lang="en-US" altLang="zh-TW" dirty="0">
                <a:solidFill>
                  <a:srgbClr val="FF0000"/>
                </a:solidFill>
              </a:rPr>
              <a:t>Setup Time Estimation </a:t>
            </a:r>
            <a:r>
              <a:rPr lang="en-US" altLang="zh-TW" dirty="0"/>
              <a:t>using NGSPICE</a:t>
            </a:r>
          </a:p>
          <a:p>
            <a:pPr lvl="1"/>
            <a:r>
              <a:rPr lang="en-US" altLang="zh-TW" dirty="0"/>
              <a:t>Objective:</a:t>
            </a:r>
          </a:p>
          <a:p>
            <a:pPr lvl="2"/>
            <a:r>
              <a:rPr lang="en-US" altLang="zh-TW" dirty="0"/>
              <a:t>The objective of this assignment is to simulate a D-Flip-Flop (DFF) circuit using NGSPICE to analyze the timing relationship between the data input (D) and clock (CLK), and to estimate the DFF's setup time under various process and voltage conditions.</a:t>
            </a:r>
          </a:p>
          <a:p>
            <a:pPr lvl="1"/>
            <a:r>
              <a:rPr lang="en-US" altLang="zh-TW" dirty="0"/>
              <a:t>Tool:</a:t>
            </a:r>
          </a:p>
          <a:p>
            <a:pPr lvl="2"/>
            <a:r>
              <a:rPr lang="en-US" altLang="zh-TW" dirty="0"/>
              <a:t>NGSPICE circuit simulator</a:t>
            </a:r>
          </a:p>
          <a:p>
            <a:pPr lvl="1"/>
            <a:r>
              <a:rPr lang="en-US" altLang="zh-TW" dirty="0"/>
              <a:t>Task:</a:t>
            </a:r>
          </a:p>
          <a:p>
            <a:pPr lvl="2"/>
            <a:r>
              <a:rPr lang="en-US" altLang="zh-TW" dirty="0"/>
              <a:t>DFF Simulation: Set up an NGSPICE simulation for a D-Flip-Flop.</a:t>
            </a:r>
            <a:r>
              <a:rPr lang="zh-TW" altLang="en-US" dirty="0"/>
              <a:t> </a:t>
            </a:r>
            <a:endParaRPr lang="en-US" altLang="zh-TW" dirty="0"/>
          </a:p>
          <a:p>
            <a:pPr lvl="3"/>
            <a:r>
              <a:rPr lang="en-US" altLang="zh-TW" dirty="0"/>
              <a:t>Subcircuit name: “</a:t>
            </a:r>
            <a:r>
              <a:rPr lang="en-US" altLang="zh-TW" b="1" dirty="0"/>
              <a:t>sky130_fd_sc_hd__dfxbp_1</a:t>
            </a:r>
            <a:r>
              <a:rPr lang="en-US" altLang="zh-TW" dirty="0"/>
              <a:t>” (defined in “../../</a:t>
            </a:r>
            <a:r>
              <a:rPr lang="en-US" altLang="zh-TW" dirty="0" err="1"/>
              <a:t>libs.ref</a:t>
            </a:r>
            <a:r>
              <a:rPr lang="en-US" altLang="zh-TW" dirty="0"/>
              <a:t>/sky130_fd_sc_hd/spice/sky130_fd_sc_hd.spice”)</a:t>
            </a:r>
          </a:p>
          <a:p>
            <a:pPr lvl="2"/>
            <a:r>
              <a:rPr lang="en-US" altLang="zh-TW" dirty="0"/>
              <a:t>Timing Analysis: For each specified condition, perform simulations to measure the </a:t>
            </a:r>
            <a:r>
              <a:rPr lang="en-US" altLang="zh-TW" b="1" dirty="0" err="1"/>
              <a:t>Tpcq</a:t>
            </a:r>
            <a:r>
              <a:rPr lang="en-US" altLang="zh-TW" dirty="0"/>
              <a:t> by varying </a:t>
            </a:r>
            <a:r>
              <a:rPr lang="en-US" altLang="zh-TW" b="1" dirty="0" err="1"/>
              <a:t>Tdc</a:t>
            </a:r>
            <a:r>
              <a:rPr lang="en-US" altLang="zh-TW" dirty="0"/>
              <a:t>, where:</a:t>
            </a:r>
          </a:p>
          <a:p>
            <a:pPr lvl="3"/>
            <a:r>
              <a:rPr lang="en-US" altLang="zh-TW" b="1" dirty="0" err="1"/>
              <a:t>Tdc</a:t>
            </a:r>
            <a:r>
              <a:rPr lang="en-US" altLang="zh-TW" dirty="0"/>
              <a:t>: is defined as the time difference between the data input (D) transition and the rising edge of the clock (CLK).</a:t>
            </a:r>
          </a:p>
          <a:p>
            <a:pPr lvl="3"/>
            <a:r>
              <a:rPr lang="en-US" altLang="zh-TW" b="1" dirty="0" err="1"/>
              <a:t>Tpcq</a:t>
            </a:r>
            <a:r>
              <a:rPr lang="en-US" altLang="zh-TW" dirty="0"/>
              <a:t>: is defined as the time difference between the rising edge of the clock (CLK) and the resulting transition at the data output (Q).</a:t>
            </a:r>
          </a:p>
          <a:p>
            <a:pPr lvl="2"/>
            <a:r>
              <a:rPr lang="en-US" altLang="zh-TW" dirty="0"/>
              <a:t>Setup Time Estimation: Based on the </a:t>
            </a:r>
            <a:r>
              <a:rPr lang="en-US" altLang="zh-TW" dirty="0" err="1"/>
              <a:t>Tdc</a:t>
            </a:r>
            <a:r>
              <a:rPr lang="en-US" altLang="zh-TW" dirty="0"/>
              <a:t> vs </a:t>
            </a:r>
            <a:r>
              <a:rPr lang="en-US" altLang="zh-TW" dirty="0" err="1"/>
              <a:t>Tpcq</a:t>
            </a:r>
            <a:r>
              <a:rPr lang="en-US" altLang="zh-TW" dirty="0"/>
              <a:t> plots obtained from the simulations, estimate the setup time for the DFF under each condition. The setup time is typically the minimum time the data must be stable before the clock rising edge for reliable operation.</a:t>
            </a:r>
          </a:p>
          <a:p>
            <a:pPr lvl="2"/>
            <a:r>
              <a:rPr lang="en-US" altLang="zh-TW" dirty="0"/>
              <a:t>Condition Coverage: Perform the timing analysis and setup time estimation for a total of 15 different operating conditions. These conditions are a combination of:</a:t>
            </a:r>
          </a:p>
          <a:p>
            <a:pPr lvl="3"/>
            <a:r>
              <a:rPr lang="en-US" altLang="zh-TW" b="1" dirty="0"/>
              <a:t>5</a:t>
            </a:r>
            <a:r>
              <a:rPr lang="en-US" altLang="zh-TW" dirty="0"/>
              <a:t> Process Corners: Typical-Typical (</a:t>
            </a:r>
            <a:r>
              <a:rPr lang="en-US" altLang="zh-TW" b="1" dirty="0" err="1"/>
              <a:t>tt</a:t>
            </a:r>
            <a:r>
              <a:rPr lang="en-US" altLang="zh-TW" dirty="0"/>
              <a:t>), Fast-Fast (</a:t>
            </a:r>
            <a:r>
              <a:rPr lang="en-US" altLang="zh-TW" b="1" dirty="0"/>
              <a:t>ff</a:t>
            </a:r>
            <a:r>
              <a:rPr lang="en-US" altLang="zh-TW" dirty="0"/>
              <a:t>), Slow-Slow (</a:t>
            </a:r>
            <a:r>
              <a:rPr lang="en-US" altLang="zh-TW" b="1" dirty="0"/>
              <a:t>ss</a:t>
            </a:r>
            <a:r>
              <a:rPr lang="en-US" altLang="zh-TW" dirty="0"/>
              <a:t>), Fast-Slow (</a:t>
            </a:r>
            <a:r>
              <a:rPr lang="en-US" altLang="zh-TW" b="1" dirty="0"/>
              <a:t>fs</a:t>
            </a:r>
            <a:r>
              <a:rPr lang="en-US" altLang="zh-TW" dirty="0"/>
              <a:t>), Slow-Fast (</a:t>
            </a:r>
            <a:r>
              <a:rPr lang="en-US" altLang="zh-TW" b="1" dirty="0"/>
              <a:t>sf</a:t>
            </a:r>
            <a:r>
              <a:rPr lang="en-US" altLang="zh-TW" dirty="0"/>
              <a:t>)</a:t>
            </a:r>
          </a:p>
          <a:p>
            <a:pPr lvl="3"/>
            <a:r>
              <a:rPr lang="en-US" altLang="zh-TW" b="1" dirty="0"/>
              <a:t>3</a:t>
            </a:r>
            <a:r>
              <a:rPr lang="en-US" altLang="zh-TW" dirty="0"/>
              <a:t> Power Supply Voltages (VDD):1.8V (</a:t>
            </a:r>
            <a:r>
              <a:rPr lang="en-US" altLang="zh-TW" b="1" dirty="0"/>
              <a:t>Nominal</a:t>
            </a:r>
            <a:r>
              <a:rPr lang="en-US" altLang="zh-TW" dirty="0"/>
              <a:t>)1.98V </a:t>
            </a:r>
            <a:r>
              <a:rPr lang="en-US" altLang="zh-TW" b="1" dirty="0"/>
              <a:t>(+10% of Nominal</a:t>
            </a:r>
            <a:r>
              <a:rPr lang="en-US" altLang="zh-TW" dirty="0"/>
              <a:t>)1.62V (</a:t>
            </a:r>
            <a:r>
              <a:rPr lang="en-US" altLang="zh-TW" b="1" dirty="0"/>
              <a:t>-10% of Nominal</a:t>
            </a:r>
            <a:r>
              <a:rPr lang="en-US" altLang="zh-TW" dirty="0"/>
              <a:t>)</a:t>
            </a:r>
          </a:p>
          <a:p>
            <a:pPr lvl="3"/>
            <a:r>
              <a:rPr lang="en-US" altLang="zh-TW" dirty="0" err="1">
                <a:solidFill>
                  <a:srgbClr val="FF0000"/>
                </a:solidFill>
              </a:rPr>
              <a:t>Cload</a:t>
            </a:r>
            <a:r>
              <a:rPr lang="en-US" altLang="zh-TW" dirty="0">
                <a:solidFill>
                  <a:srgbClr val="FF0000"/>
                </a:solidFill>
              </a:rPr>
              <a:t>: “</a:t>
            </a:r>
            <a:r>
              <a:rPr lang="en-US" altLang="zh-TW" b="1" dirty="0">
                <a:solidFill>
                  <a:srgbClr val="FF0000"/>
                </a:solidFill>
              </a:rPr>
              <a:t>sky130_fd_sc_hd__inv_1</a:t>
            </a:r>
            <a:r>
              <a:rPr lang="en-US" altLang="zh-TW" dirty="0">
                <a:solidFill>
                  <a:srgbClr val="FF0000"/>
                </a:solidFill>
              </a:rPr>
              <a:t>”</a:t>
            </a:r>
            <a:r>
              <a:rPr lang="en-US" altLang="zh-TW" dirty="0"/>
              <a:t> (defined in “../../</a:t>
            </a:r>
            <a:r>
              <a:rPr lang="en-US" altLang="zh-TW" dirty="0" err="1"/>
              <a:t>libs.ref</a:t>
            </a:r>
            <a:r>
              <a:rPr lang="en-US" altLang="zh-TW" dirty="0"/>
              <a:t>/sky130_fd_sc_hd/spice/sky130_fd_sc_hd.spice”)</a:t>
            </a:r>
          </a:p>
          <a:p>
            <a:pPr lvl="2"/>
            <a:r>
              <a:rPr lang="en-US" altLang="zh-TW" b="1" dirty="0"/>
              <a:t>Deliverables</a:t>
            </a:r>
            <a:r>
              <a:rPr lang="en-US" altLang="zh-TW" dirty="0"/>
              <a:t>:</a:t>
            </a:r>
          </a:p>
          <a:p>
            <a:pPr marL="1371600" lvl="3" indent="-342900">
              <a:buFont typeface="+mj-lt"/>
              <a:buAutoNum type="arabicPeriod"/>
            </a:pPr>
            <a:r>
              <a:rPr lang="en-US" altLang="zh-TW" dirty="0"/>
              <a:t>NGSPICE </a:t>
            </a:r>
            <a:r>
              <a:rPr lang="en-US" altLang="zh-TW" b="1" dirty="0"/>
              <a:t>netlist</a:t>
            </a:r>
            <a:r>
              <a:rPr lang="en-US" altLang="zh-TW" dirty="0"/>
              <a:t>(s) used for the simulations.</a:t>
            </a:r>
          </a:p>
          <a:p>
            <a:pPr marL="1371600" lvl="3" indent="-342900">
              <a:buFont typeface="+mj-lt"/>
              <a:buAutoNum type="arabicPeriod"/>
            </a:pPr>
            <a:r>
              <a:rPr lang="en-US" altLang="zh-TW" dirty="0"/>
              <a:t>A </a:t>
            </a:r>
            <a:r>
              <a:rPr lang="en-US" altLang="zh-TW" b="1" dirty="0"/>
              <a:t>summary table </a:t>
            </a:r>
            <a:r>
              <a:rPr lang="en-US" altLang="zh-TW" dirty="0"/>
              <a:t>listing the estimated setup time for each of the 15 conditions. A brief report summarizing your methodology and observations regarding the impact of process corners and VDD variations on the DFF's timing and setup time.</a:t>
            </a:r>
          </a:p>
        </p:txBody>
      </p:sp>
    </p:spTree>
    <p:extLst>
      <p:ext uri="{BB962C8B-B14F-4D97-AF65-F5344CB8AC3E}">
        <p14:creationId xmlns:p14="http://schemas.microsoft.com/office/powerpoint/2010/main" val="4135221385"/>
      </p:ext>
    </p:extLst>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a:extLst>
              <a:ext uri="{FF2B5EF4-FFF2-40B4-BE49-F238E27FC236}">
                <a16:creationId xmlns:a16="http://schemas.microsoft.com/office/drawing/2014/main" id="{BAE8641B-5915-4BF8-9E82-9BC64140ECDE}"/>
              </a:ext>
            </a:extLst>
          </p:cNvPr>
          <p:cNvPicPr>
            <a:picLocks noGrp="1" noChangeAspect="1"/>
          </p:cNvPicPr>
          <p:nvPr>
            <p:ph idx="1"/>
          </p:nvPr>
        </p:nvPicPr>
        <p:blipFill>
          <a:blip r:embed="rId3"/>
          <a:stretch>
            <a:fillRect/>
          </a:stretch>
        </p:blipFill>
        <p:spPr>
          <a:xfrm>
            <a:off x="251619" y="1133061"/>
            <a:ext cx="4775934" cy="3259847"/>
          </a:xfrm>
        </p:spPr>
      </p:pic>
      <p:pic>
        <p:nvPicPr>
          <p:cNvPr id="20" name="圖片 19">
            <a:extLst>
              <a:ext uri="{FF2B5EF4-FFF2-40B4-BE49-F238E27FC236}">
                <a16:creationId xmlns:a16="http://schemas.microsoft.com/office/drawing/2014/main" id="{6DC7F361-7E08-4827-9507-1F09DB210F3F}"/>
              </a:ext>
            </a:extLst>
          </p:cNvPr>
          <p:cNvPicPr>
            <a:picLocks noChangeAspect="1"/>
          </p:cNvPicPr>
          <p:nvPr/>
        </p:nvPicPr>
        <p:blipFill>
          <a:blip r:embed="rId4"/>
          <a:stretch>
            <a:fillRect/>
          </a:stretch>
        </p:blipFill>
        <p:spPr>
          <a:xfrm>
            <a:off x="4568151" y="1338694"/>
            <a:ext cx="7077201" cy="5407359"/>
          </a:xfrm>
          <a:prstGeom prst="rect">
            <a:avLst/>
          </a:prstGeom>
        </p:spPr>
      </p:pic>
      <p:sp>
        <p:nvSpPr>
          <p:cNvPr id="2" name="標題 1">
            <a:extLst>
              <a:ext uri="{FF2B5EF4-FFF2-40B4-BE49-F238E27FC236}">
                <a16:creationId xmlns:a16="http://schemas.microsoft.com/office/drawing/2014/main" id="{337CC339-CFD8-4A8E-BF22-846ECDD6938E}"/>
              </a:ext>
            </a:extLst>
          </p:cNvPr>
          <p:cNvSpPr>
            <a:spLocks noGrp="1"/>
          </p:cNvSpPr>
          <p:nvPr>
            <p:ph type="title"/>
          </p:nvPr>
        </p:nvSpPr>
        <p:spPr/>
        <p:txBody>
          <a:bodyPr/>
          <a:lstStyle/>
          <a:p>
            <a:r>
              <a:rPr lang="en-US" altLang="zh-TW" dirty="0"/>
              <a:t>Tutorial</a:t>
            </a:r>
            <a:r>
              <a:rPr lang="zh-TW" altLang="en-US" dirty="0"/>
              <a:t> </a:t>
            </a:r>
            <a:r>
              <a:rPr lang="en-US" altLang="zh-TW" dirty="0"/>
              <a:t>(</a:t>
            </a:r>
            <a:r>
              <a:rPr lang="zh-TW" altLang="en-US" dirty="0"/>
              <a:t>備註有說明</a:t>
            </a:r>
            <a:r>
              <a:rPr lang="en-US" altLang="zh-TW" dirty="0"/>
              <a:t>)</a:t>
            </a:r>
            <a:endParaRPr lang="zh-TW" altLang="en-US" dirty="0"/>
          </a:p>
        </p:txBody>
      </p:sp>
      <p:sp>
        <p:nvSpPr>
          <p:cNvPr id="6" name="矩形 5">
            <a:extLst>
              <a:ext uri="{FF2B5EF4-FFF2-40B4-BE49-F238E27FC236}">
                <a16:creationId xmlns:a16="http://schemas.microsoft.com/office/drawing/2014/main" id="{4AB01B6D-116A-4FB6-BE5C-DCD85944DFF5}"/>
              </a:ext>
            </a:extLst>
          </p:cNvPr>
          <p:cNvSpPr/>
          <p:nvPr/>
        </p:nvSpPr>
        <p:spPr>
          <a:xfrm>
            <a:off x="479425" y="2299038"/>
            <a:ext cx="2094942" cy="46394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10" name="橢圓 9">
            <a:extLst>
              <a:ext uri="{FF2B5EF4-FFF2-40B4-BE49-F238E27FC236}">
                <a16:creationId xmlns:a16="http://schemas.microsoft.com/office/drawing/2014/main" id="{4CE44BF6-C786-43C3-874A-2245505C4D2E}"/>
              </a:ext>
            </a:extLst>
          </p:cNvPr>
          <p:cNvSpPr/>
          <p:nvPr/>
        </p:nvSpPr>
        <p:spPr>
          <a:xfrm>
            <a:off x="2065020" y="1943100"/>
            <a:ext cx="274320" cy="27432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FF0000"/>
                </a:solidFill>
              </a:rPr>
              <a:t>1</a:t>
            </a:r>
            <a:endParaRPr lang="zh-TW" altLang="en-US" dirty="0">
              <a:solidFill>
                <a:srgbClr val="FF0000"/>
              </a:solidFill>
            </a:endParaRPr>
          </a:p>
        </p:txBody>
      </p:sp>
      <p:sp>
        <p:nvSpPr>
          <p:cNvPr id="9" name="矩形 8">
            <a:extLst>
              <a:ext uri="{FF2B5EF4-FFF2-40B4-BE49-F238E27FC236}">
                <a16:creationId xmlns:a16="http://schemas.microsoft.com/office/drawing/2014/main" id="{2AF47E88-E0AE-43AA-B0F9-84A4204C55AE}"/>
              </a:ext>
            </a:extLst>
          </p:cNvPr>
          <p:cNvSpPr/>
          <p:nvPr/>
        </p:nvSpPr>
        <p:spPr>
          <a:xfrm>
            <a:off x="4568151" y="1644278"/>
            <a:ext cx="6190096" cy="65476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11" name="橢圓 10">
            <a:extLst>
              <a:ext uri="{FF2B5EF4-FFF2-40B4-BE49-F238E27FC236}">
                <a16:creationId xmlns:a16="http://schemas.microsoft.com/office/drawing/2014/main" id="{1AF083D6-1E52-433C-850F-DDA81529EB33}"/>
              </a:ext>
            </a:extLst>
          </p:cNvPr>
          <p:cNvSpPr/>
          <p:nvPr/>
        </p:nvSpPr>
        <p:spPr>
          <a:xfrm>
            <a:off x="7663199" y="1293978"/>
            <a:ext cx="274320" cy="27432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FF0000"/>
                </a:solidFill>
              </a:rPr>
              <a:t>2</a:t>
            </a:r>
            <a:endParaRPr lang="zh-TW" altLang="en-US" dirty="0">
              <a:solidFill>
                <a:srgbClr val="FF0000"/>
              </a:solidFill>
            </a:endParaRPr>
          </a:p>
        </p:txBody>
      </p:sp>
    </p:spTree>
    <p:extLst>
      <p:ext uri="{BB962C8B-B14F-4D97-AF65-F5344CB8AC3E}">
        <p14:creationId xmlns:p14="http://schemas.microsoft.com/office/powerpoint/2010/main" val="51037440"/>
      </p:ext>
    </p:extLst>
  </p:cSld>
  <p:clrMapOvr>
    <a:masterClrMapping/>
  </p:clrMapOvr>
  <p:transition>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7CC339-CFD8-4A8E-BF22-846ECDD6938E}"/>
              </a:ext>
            </a:extLst>
          </p:cNvPr>
          <p:cNvSpPr>
            <a:spLocks noGrp="1"/>
          </p:cNvSpPr>
          <p:nvPr>
            <p:ph type="title"/>
          </p:nvPr>
        </p:nvSpPr>
        <p:spPr/>
        <p:txBody>
          <a:bodyPr/>
          <a:lstStyle/>
          <a:p>
            <a:r>
              <a:rPr lang="en-US" altLang="zh-TW" dirty="0"/>
              <a:t>Tutorial</a:t>
            </a:r>
            <a:r>
              <a:rPr lang="zh-TW" altLang="en-US" dirty="0"/>
              <a:t> </a:t>
            </a:r>
            <a:r>
              <a:rPr lang="en-US" altLang="zh-TW" dirty="0"/>
              <a:t>(</a:t>
            </a:r>
            <a:r>
              <a:rPr lang="zh-TW" altLang="en-US" dirty="0"/>
              <a:t>備註有說明</a:t>
            </a:r>
            <a:r>
              <a:rPr lang="en-US" altLang="zh-TW" dirty="0"/>
              <a:t>)</a:t>
            </a:r>
            <a:endParaRPr lang="zh-TW" altLang="en-US" dirty="0"/>
          </a:p>
        </p:txBody>
      </p:sp>
      <p:grpSp>
        <p:nvGrpSpPr>
          <p:cNvPr id="31" name="群組 30">
            <a:extLst>
              <a:ext uri="{FF2B5EF4-FFF2-40B4-BE49-F238E27FC236}">
                <a16:creationId xmlns:a16="http://schemas.microsoft.com/office/drawing/2014/main" id="{759E41D7-0925-4A11-AC28-290A1F71C3CD}"/>
              </a:ext>
            </a:extLst>
          </p:cNvPr>
          <p:cNvGrpSpPr/>
          <p:nvPr/>
        </p:nvGrpSpPr>
        <p:grpSpPr>
          <a:xfrm>
            <a:off x="479425" y="2247992"/>
            <a:ext cx="4942029" cy="1805211"/>
            <a:chOff x="244640" y="1133061"/>
            <a:chExt cx="5726398" cy="2091723"/>
          </a:xfrm>
        </p:grpSpPr>
        <p:grpSp>
          <p:nvGrpSpPr>
            <p:cNvPr id="26" name="群組 25">
              <a:extLst>
                <a:ext uri="{FF2B5EF4-FFF2-40B4-BE49-F238E27FC236}">
                  <a16:creationId xmlns:a16="http://schemas.microsoft.com/office/drawing/2014/main" id="{2A52CA43-6DB4-424D-8F59-78605109B28A}"/>
                </a:ext>
              </a:extLst>
            </p:cNvPr>
            <p:cNvGrpSpPr/>
            <p:nvPr/>
          </p:nvGrpSpPr>
          <p:grpSpPr>
            <a:xfrm>
              <a:off x="244640" y="1133061"/>
              <a:ext cx="5726398" cy="2091723"/>
              <a:chOff x="549440" y="1489352"/>
              <a:chExt cx="6447968" cy="2355296"/>
            </a:xfrm>
          </p:grpSpPr>
          <p:pic>
            <p:nvPicPr>
              <p:cNvPr id="25" name="圖片 24">
                <a:extLst>
                  <a:ext uri="{FF2B5EF4-FFF2-40B4-BE49-F238E27FC236}">
                    <a16:creationId xmlns:a16="http://schemas.microsoft.com/office/drawing/2014/main" id="{92934987-6471-41E9-939D-7EAC63291A92}"/>
                  </a:ext>
                </a:extLst>
              </p:cNvPr>
              <p:cNvPicPr>
                <a:picLocks noChangeAspect="1"/>
              </p:cNvPicPr>
              <p:nvPr/>
            </p:nvPicPr>
            <p:blipFill>
              <a:blip r:embed="rId3"/>
              <a:stretch>
                <a:fillRect/>
              </a:stretch>
            </p:blipFill>
            <p:spPr>
              <a:xfrm>
                <a:off x="549440" y="1489352"/>
                <a:ext cx="6447968" cy="2355296"/>
              </a:xfrm>
              <a:prstGeom prst="rect">
                <a:avLst/>
              </a:prstGeom>
            </p:spPr>
          </p:pic>
          <p:sp>
            <p:nvSpPr>
              <p:cNvPr id="14" name="矩形 13">
                <a:extLst>
                  <a:ext uri="{FF2B5EF4-FFF2-40B4-BE49-F238E27FC236}">
                    <a16:creationId xmlns:a16="http://schemas.microsoft.com/office/drawing/2014/main" id="{7AFF4DC2-296C-4924-A50B-3DCF42C2863A}"/>
                  </a:ext>
                </a:extLst>
              </p:cNvPr>
              <p:cNvSpPr/>
              <p:nvPr/>
            </p:nvSpPr>
            <p:spPr>
              <a:xfrm>
                <a:off x="2136648" y="2729484"/>
                <a:ext cx="952500" cy="44958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grpSp>
        <p:sp>
          <p:nvSpPr>
            <p:cNvPr id="27" name="橢圓 26">
              <a:extLst>
                <a:ext uri="{FF2B5EF4-FFF2-40B4-BE49-F238E27FC236}">
                  <a16:creationId xmlns:a16="http://schemas.microsoft.com/office/drawing/2014/main" id="{0D6444DD-51EA-43E7-857D-326F375182A5}"/>
                </a:ext>
              </a:extLst>
            </p:cNvPr>
            <p:cNvSpPr/>
            <p:nvPr/>
          </p:nvSpPr>
          <p:spPr>
            <a:xfrm>
              <a:off x="2065020" y="1943100"/>
              <a:ext cx="274320" cy="27432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FF0000"/>
                  </a:solidFill>
                </a:rPr>
                <a:t>1</a:t>
              </a:r>
              <a:endParaRPr lang="zh-TW" altLang="en-US" dirty="0">
                <a:solidFill>
                  <a:srgbClr val="FF0000"/>
                </a:solidFill>
              </a:endParaRPr>
            </a:p>
          </p:txBody>
        </p:sp>
      </p:grpSp>
      <p:grpSp>
        <p:nvGrpSpPr>
          <p:cNvPr id="38" name="群組 37">
            <a:extLst>
              <a:ext uri="{FF2B5EF4-FFF2-40B4-BE49-F238E27FC236}">
                <a16:creationId xmlns:a16="http://schemas.microsoft.com/office/drawing/2014/main" id="{1CFD557B-8B71-43F4-A3E2-F069019FF752}"/>
              </a:ext>
            </a:extLst>
          </p:cNvPr>
          <p:cNvGrpSpPr/>
          <p:nvPr/>
        </p:nvGrpSpPr>
        <p:grpSpPr>
          <a:xfrm>
            <a:off x="5565648" y="1508341"/>
            <a:ext cx="4981222" cy="3284511"/>
            <a:chOff x="6096000" y="1910679"/>
            <a:chExt cx="4981222" cy="3284511"/>
          </a:xfrm>
        </p:grpSpPr>
        <p:pic>
          <p:nvPicPr>
            <p:cNvPr id="30" name="圖片 29">
              <a:extLst>
                <a:ext uri="{FF2B5EF4-FFF2-40B4-BE49-F238E27FC236}">
                  <a16:creationId xmlns:a16="http://schemas.microsoft.com/office/drawing/2014/main" id="{D8AACF84-8900-45EF-8941-22E9051BBEBA}"/>
                </a:ext>
              </a:extLst>
            </p:cNvPr>
            <p:cNvPicPr>
              <a:picLocks noChangeAspect="1"/>
            </p:cNvPicPr>
            <p:nvPr/>
          </p:nvPicPr>
          <p:blipFill>
            <a:blip r:embed="rId4"/>
            <a:stretch>
              <a:fillRect/>
            </a:stretch>
          </p:blipFill>
          <p:spPr>
            <a:xfrm>
              <a:off x="6096000" y="1910679"/>
              <a:ext cx="4981222" cy="3284511"/>
            </a:xfrm>
            <a:prstGeom prst="rect">
              <a:avLst/>
            </a:prstGeom>
          </p:spPr>
        </p:pic>
        <p:sp>
          <p:nvSpPr>
            <p:cNvPr id="28" name="橢圓 27">
              <a:extLst>
                <a:ext uri="{FF2B5EF4-FFF2-40B4-BE49-F238E27FC236}">
                  <a16:creationId xmlns:a16="http://schemas.microsoft.com/office/drawing/2014/main" id="{916F770F-A113-44AF-96BB-463D72EFADC7}"/>
                </a:ext>
              </a:extLst>
            </p:cNvPr>
            <p:cNvSpPr/>
            <p:nvPr/>
          </p:nvSpPr>
          <p:spPr>
            <a:xfrm>
              <a:off x="7963589" y="2118687"/>
              <a:ext cx="274320" cy="27432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FF0000"/>
                  </a:solidFill>
                </a:rPr>
                <a:t>2</a:t>
              </a:r>
              <a:endParaRPr lang="zh-TW" altLang="en-US" dirty="0">
                <a:solidFill>
                  <a:srgbClr val="FF0000"/>
                </a:solidFill>
              </a:endParaRPr>
            </a:p>
          </p:txBody>
        </p:sp>
        <p:cxnSp>
          <p:nvCxnSpPr>
            <p:cNvPr id="35" name="直線接點 34">
              <a:extLst>
                <a:ext uri="{FF2B5EF4-FFF2-40B4-BE49-F238E27FC236}">
                  <a16:creationId xmlns:a16="http://schemas.microsoft.com/office/drawing/2014/main" id="{DFAE4A4D-EDF3-4D12-B5A4-E646A8033E48}"/>
                </a:ext>
              </a:extLst>
            </p:cNvPr>
            <p:cNvCxnSpPr/>
            <p:nvPr/>
          </p:nvCxnSpPr>
          <p:spPr>
            <a:xfrm flipH="1">
              <a:off x="6748272" y="2517648"/>
              <a:ext cx="88392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6DCD96A8-F943-461D-BC4E-73BEB8CA6EB1}"/>
                </a:ext>
              </a:extLst>
            </p:cNvPr>
            <p:cNvCxnSpPr>
              <a:cxnSpLocks/>
            </p:cNvCxnSpPr>
            <p:nvPr/>
          </p:nvCxnSpPr>
          <p:spPr>
            <a:xfrm flipH="1">
              <a:off x="7010400" y="3194304"/>
              <a:ext cx="122750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60894677"/>
      </p:ext>
    </p:extLst>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22F742D0-E2EF-4BE5-A327-51560DD3B683}"/>
              </a:ext>
            </a:extLst>
          </p:cNvPr>
          <p:cNvPicPr>
            <a:picLocks noChangeAspect="1"/>
          </p:cNvPicPr>
          <p:nvPr/>
        </p:nvPicPr>
        <p:blipFill>
          <a:blip r:embed="rId3"/>
          <a:stretch>
            <a:fillRect/>
          </a:stretch>
        </p:blipFill>
        <p:spPr>
          <a:xfrm>
            <a:off x="7227051" y="606576"/>
            <a:ext cx="4912889" cy="5294421"/>
          </a:xfrm>
          <a:prstGeom prst="rect">
            <a:avLst/>
          </a:prstGeom>
        </p:spPr>
      </p:pic>
      <p:pic>
        <p:nvPicPr>
          <p:cNvPr id="7" name="圖片 6">
            <a:extLst>
              <a:ext uri="{FF2B5EF4-FFF2-40B4-BE49-F238E27FC236}">
                <a16:creationId xmlns:a16="http://schemas.microsoft.com/office/drawing/2014/main" id="{2F6D06ED-1799-44A6-9199-36CB95CD3837}"/>
              </a:ext>
            </a:extLst>
          </p:cNvPr>
          <p:cNvPicPr>
            <a:picLocks noChangeAspect="1"/>
          </p:cNvPicPr>
          <p:nvPr/>
        </p:nvPicPr>
        <p:blipFill>
          <a:blip r:embed="rId4"/>
          <a:stretch>
            <a:fillRect/>
          </a:stretch>
        </p:blipFill>
        <p:spPr>
          <a:xfrm>
            <a:off x="0" y="1124735"/>
            <a:ext cx="7184583" cy="2715746"/>
          </a:xfrm>
          <a:prstGeom prst="rect">
            <a:avLst/>
          </a:prstGeom>
        </p:spPr>
      </p:pic>
      <p:sp>
        <p:nvSpPr>
          <p:cNvPr id="2" name="標題 1">
            <a:extLst>
              <a:ext uri="{FF2B5EF4-FFF2-40B4-BE49-F238E27FC236}">
                <a16:creationId xmlns:a16="http://schemas.microsoft.com/office/drawing/2014/main" id="{337CC339-CFD8-4A8E-BF22-846ECDD6938E}"/>
              </a:ext>
            </a:extLst>
          </p:cNvPr>
          <p:cNvSpPr>
            <a:spLocks noGrp="1"/>
          </p:cNvSpPr>
          <p:nvPr>
            <p:ph type="title"/>
          </p:nvPr>
        </p:nvSpPr>
        <p:spPr/>
        <p:txBody>
          <a:bodyPr/>
          <a:lstStyle/>
          <a:p>
            <a:r>
              <a:rPr lang="en-US" altLang="zh-TW" dirty="0"/>
              <a:t>Tutorial</a:t>
            </a:r>
            <a:r>
              <a:rPr lang="zh-TW" altLang="en-US" dirty="0"/>
              <a:t> </a:t>
            </a:r>
            <a:r>
              <a:rPr lang="en-US" altLang="zh-TW" dirty="0"/>
              <a:t>(</a:t>
            </a:r>
            <a:r>
              <a:rPr lang="zh-TW" altLang="en-US" dirty="0"/>
              <a:t>備註有說明</a:t>
            </a:r>
            <a:r>
              <a:rPr lang="en-US" altLang="zh-TW" dirty="0"/>
              <a:t>)</a:t>
            </a:r>
            <a:endParaRPr lang="zh-TW" altLang="en-US" dirty="0"/>
          </a:p>
        </p:txBody>
      </p:sp>
      <p:sp>
        <p:nvSpPr>
          <p:cNvPr id="5" name="矩形 4">
            <a:extLst>
              <a:ext uri="{FF2B5EF4-FFF2-40B4-BE49-F238E27FC236}">
                <a16:creationId xmlns:a16="http://schemas.microsoft.com/office/drawing/2014/main" id="{FBE7ECC7-B73D-437F-A752-0091E058F7D0}"/>
              </a:ext>
            </a:extLst>
          </p:cNvPr>
          <p:cNvSpPr/>
          <p:nvPr/>
        </p:nvSpPr>
        <p:spPr>
          <a:xfrm>
            <a:off x="4640580" y="1124735"/>
            <a:ext cx="402336" cy="15509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6" name="矩形 5">
            <a:extLst>
              <a:ext uri="{FF2B5EF4-FFF2-40B4-BE49-F238E27FC236}">
                <a16:creationId xmlns:a16="http://schemas.microsoft.com/office/drawing/2014/main" id="{6BF9B31B-F237-4255-A907-67DB12A18F00}"/>
              </a:ext>
            </a:extLst>
          </p:cNvPr>
          <p:cNvSpPr/>
          <p:nvPr/>
        </p:nvSpPr>
        <p:spPr>
          <a:xfrm>
            <a:off x="1199388" y="1086750"/>
            <a:ext cx="451104" cy="15509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9" name="矩形 8">
            <a:extLst>
              <a:ext uri="{FF2B5EF4-FFF2-40B4-BE49-F238E27FC236}">
                <a16:creationId xmlns:a16="http://schemas.microsoft.com/office/drawing/2014/main" id="{89A1ED3A-86B2-45F4-B5F1-4C9F3E8E244D}"/>
              </a:ext>
            </a:extLst>
          </p:cNvPr>
          <p:cNvSpPr/>
          <p:nvPr/>
        </p:nvSpPr>
        <p:spPr>
          <a:xfrm>
            <a:off x="7184582" y="2482608"/>
            <a:ext cx="4912889" cy="55473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22" name="矩形 21">
            <a:extLst>
              <a:ext uri="{FF2B5EF4-FFF2-40B4-BE49-F238E27FC236}">
                <a16:creationId xmlns:a16="http://schemas.microsoft.com/office/drawing/2014/main" id="{FB5934C4-6B60-4FBA-BF39-7A819C3ACF29}"/>
              </a:ext>
            </a:extLst>
          </p:cNvPr>
          <p:cNvSpPr/>
          <p:nvPr/>
        </p:nvSpPr>
        <p:spPr>
          <a:xfrm>
            <a:off x="7211381" y="5454127"/>
            <a:ext cx="4501194" cy="44687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rgbClr val="FF0000"/>
              </a:solidFill>
            </a:endParaRPr>
          </a:p>
        </p:txBody>
      </p:sp>
      <p:sp>
        <p:nvSpPr>
          <p:cNvPr id="11" name="橢圓 10">
            <a:extLst>
              <a:ext uri="{FF2B5EF4-FFF2-40B4-BE49-F238E27FC236}">
                <a16:creationId xmlns:a16="http://schemas.microsoft.com/office/drawing/2014/main" id="{51903FB6-DC69-4DCB-9FA6-83E47491E9DE}"/>
              </a:ext>
            </a:extLst>
          </p:cNvPr>
          <p:cNvSpPr/>
          <p:nvPr/>
        </p:nvSpPr>
        <p:spPr>
          <a:xfrm>
            <a:off x="7935507" y="2362604"/>
            <a:ext cx="1705519" cy="435237"/>
          </a:xfrm>
          <a:prstGeom prst="ellipse">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FF0000"/>
                </a:solidFill>
              </a:rPr>
              <a:t>Fail</a:t>
            </a:r>
            <a:endParaRPr lang="zh-TW" altLang="en-US" dirty="0">
              <a:solidFill>
                <a:srgbClr val="FF0000"/>
              </a:solidFill>
            </a:endParaRPr>
          </a:p>
        </p:txBody>
      </p:sp>
      <p:sp>
        <p:nvSpPr>
          <p:cNvPr id="12" name="橢圓 11">
            <a:extLst>
              <a:ext uri="{FF2B5EF4-FFF2-40B4-BE49-F238E27FC236}">
                <a16:creationId xmlns:a16="http://schemas.microsoft.com/office/drawing/2014/main" id="{4C1A0075-6B64-401D-AD7C-1A24310B132B}"/>
              </a:ext>
            </a:extLst>
          </p:cNvPr>
          <p:cNvSpPr/>
          <p:nvPr/>
        </p:nvSpPr>
        <p:spPr>
          <a:xfrm>
            <a:off x="7647955" y="5046226"/>
            <a:ext cx="1705519" cy="435237"/>
          </a:xfrm>
          <a:prstGeom prst="ellipse">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rgbClr val="FF0000"/>
                </a:solidFill>
              </a:rPr>
              <a:t>Success</a:t>
            </a:r>
            <a:endParaRPr lang="zh-TW" altLang="en-US" dirty="0">
              <a:solidFill>
                <a:srgbClr val="FF0000"/>
              </a:solidFill>
            </a:endParaRPr>
          </a:p>
        </p:txBody>
      </p:sp>
    </p:spTree>
    <p:extLst>
      <p:ext uri="{BB962C8B-B14F-4D97-AF65-F5344CB8AC3E}">
        <p14:creationId xmlns:p14="http://schemas.microsoft.com/office/powerpoint/2010/main" val="4138513321"/>
      </p:ext>
    </p:extLst>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7CC339-CFD8-4A8E-BF22-846ECDD6938E}"/>
              </a:ext>
            </a:extLst>
          </p:cNvPr>
          <p:cNvSpPr>
            <a:spLocks noGrp="1"/>
          </p:cNvSpPr>
          <p:nvPr>
            <p:ph type="title"/>
          </p:nvPr>
        </p:nvSpPr>
        <p:spPr/>
        <p:txBody>
          <a:bodyPr/>
          <a:lstStyle/>
          <a:p>
            <a:r>
              <a:rPr lang="en-US" altLang="zh-TW" dirty="0"/>
              <a:t>Tutorial</a:t>
            </a:r>
            <a:r>
              <a:rPr lang="zh-TW" altLang="en-US" dirty="0"/>
              <a:t> </a:t>
            </a:r>
            <a:r>
              <a:rPr lang="en-US" altLang="zh-TW" dirty="0"/>
              <a:t>(</a:t>
            </a:r>
            <a:r>
              <a:rPr lang="zh-TW" altLang="en-US" dirty="0"/>
              <a:t>備註有說明</a:t>
            </a:r>
            <a:r>
              <a:rPr lang="en-US" altLang="zh-TW" dirty="0"/>
              <a:t>)</a:t>
            </a:r>
            <a:endParaRPr lang="zh-TW" altLang="en-US" dirty="0"/>
          </a:p>
        </p:txBody>
      </p:sp>
      <p:pic>
        <p:nvPicPr>
          <p:cNvPr id="8" name="圖片 7">
            <a:extLst>
              <a:ext uri="{FF2B5EF4-FFF2-40B4-BE49-F238E27FC236}">
                <a16:creationId xmlns:a16="http://schemas.microsoft.com/office/drawing/2014/main" id="{0B629C06-C57E-4C2F-ACDD-B215B333256E}"/>
              </a:ext>
            </a:extLst>
          </p:cNvPr>
          <p:cNvPicPr>
            <a:picLocks noChangeAspect="1"/>
          </p:cNvPicPr>
          <p:nvPr/>
        </p:nvPicPr>
        <p:blipFill>
          <a:blip r:embed="rId3"/>
          <a:stretch>
            <a:fillRect/>
          </a:stretch>
        </p:blipFill>
        <p:spPr>
          <a:xfrm>
            <a:off x="2090793" y="1710466"/>
            <a:ext cx="4138291" cy="4236238"/>
          </a:xfrm>
          <a:prstGeom prst="rect">
            <a:avLst/>
          </a:prstGeom>
        </p:spPr>
      </p:pic>
      <p:pic>
        <p:nvPicPr>
          <p:cNvPr id="11" name="圖片 10">
            <a:extLst>
              <a:ext uri="{FF2B5EF4-FFF2-40B4-BE49-F238E27FC236}">
                <a16:creationId xmlns:a16="http://schemas.microsoft.com/office/drawing/2014/main" id="{5A952A19-AA1C-40B8-883C-BBBC52C69148}"/>
              </a:ext>
            </a:extLst>
          </p:cNvPr>
          <p:cNvPicPr>
            <a:picLocks noChangeAspect="1"/>
          </p:cNvPicPr>
          <p:nvPr/>
        </p:nvPicPr>
        <p:blipFill>
          <a:blip r:embed="rId4"/>
          <a:stretch>
            <a:fillRect/>
          </a:stretch>
        </p:blipFill>
        <p:spPr>
          <a:xfrm>
            <a:off x="6895650" y="1340090"/>
            <a:ext cx="3571539" cy="5039609"/>
          </a:xfrm>
          <a:prstGeom prst="rect">
            <a:avLst/>
          </a:prstGeom>
        </p:spPr>
      </p:pic>
    </p:spTree>
    <p:extLst>
      <p:ext uri="{BB962C8B-B14F-4D97-AF65-F5344CB8AC3E}">
        <p14:creationId xmlns:p14="http://schemas.microsoft.com/office/powerpoint/2010/main" val="1748912443"/>
      </p:ext>
    </p:extLst>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37CC339-CFD8-4A8E-BF22-846ECDD6938E}"/>
              </a:ext>
            </a:extLst>
          </p:cNvPr>
          <p:cNvSpPr>
            <a:spLocks noGrp="1"/>
          </p:cNvSpPr>
          <p:nvPr>
            <p:ph type="title"/>
          </p:nvPr>
        </p:nvSpPr>
        <p:spPr/>
        <p:txBody>
          <a:bodyPr/>
          <a:lstStyle/>
          <a:p>
            <a:r>
              <a:rPr lang="en-US" altLang="zh-TW" dirty="0"/>
              <a:t>Tutorial</a:t>
            </a:r>
            <a:r>
              <a:rPr lang="zh-TW" altLang="en-US" dirty="0"/>
              <a:t> </a:t>
            </a:r>
            <a:r>
              <a:rPr lang="en-US" altLang="zh-TW" dirty="0"/>
              <a:t>(</a:t>
            </a:r>
            <a:r>
              <a:rPr lang="zh-TW" altLang="en-US" dirty="0"/>
              <a:t>備註有說明</a:t>
            </a:r>
            <a:r>
              <a:rPr lang="en-US" altLang="zh-TW" dirty="0"/>
              <a:t>)</a:t>
            </a:r>
            <a:endParaRPr lang="zh-TW" altLang="en-US" dirty="0"/>
          </a:p>
        </p:txBody>
      </p:sp>
      <p:sp>
        <p:nvSpPr>
          <p:cNvPr id="10" name="內容版面配置區 2">
            <a:extLst>
              <a:ext uri="{FF2B5EF4-FFF2-40B4-BE49-F238E27FC236}">
                <a16:creationId xmlns:a16="http://schemas.microsoft.com/office/drawing/2014/main" id="{CE464CDD-A695-40E4-8C45-478DA75CA0BD}"/>
              </a:ext>
            </a:extLst>
          </p:cNvPr>
          <p:cNvSpPr>
            <a:spLocks noGrp="1"/>
          </p:cNvSpPr>
          <p:nvPr>
            <p:ph idx="1"/>
          </p:nvPr>
        </p:nvSpPr>
        <p:spPr>
          <a:xfrm>
            <a:off x="479425" y="1133061"/>
            <a:ext cx="11243088" cy="5848507"/>
          </a:xfrm>
        </p:spPr>
        <p:txBody>
          <a:bodyPr>
            <a:normAutofit/>
          </a:bodyPr>
          <a:lstStyle/>
          <a:p>
            <a:pPr lvl="1"/>
            <a:r>
              <a:rPr lang="zh-TW" altLang="en-US" dirty="0"/>
              <a:t>在模擬中 </a:t>
            </a:r>
            <a:r>
              <a:rPr lang="en-US" altLang="zh-TW" dirty="0" err="1"/>
              <a:t>clk</a:t>
            </a:r>
            <a:r>
              <a:rPr lang="en-US" altLang="zh-TW" dirty="0"/>
              <a:t> </a:t>
            </a:r>
            <a:r>
              <a:rPr lang="zh-TW" altLang="en-US" dirty="0"/>
              <a:t>與 </a:t>
            </a:r>
            <a:r>
              <a:rPr lang="en-US" altLang="zh-TW" dirty="0"/>
              <a:t>Din</a:t>
            </a:r>
            <a:r>
              <a:rPr lang="zh-TW" altLang="en-US" dirty="0"/>
              <a:t> 的 </a:t>
            </a:r>
            <a:r>
              <a:rPr lang="en-US" altLang="zh-TW" dirty="0"/>
              <a:t>rising/failing</a:t>
            </a:r>
            <a:r>
              <a:rPr lang="zh-TW" altLang="en-US" dirty="0"/>
              <a:t> </a:t>
            </a:r>
            <a:r>
              <a:rPr lang="en-US" altLang="zh-TW" dirty="0"/>
              <a:t>time</a:t>
            </a:r>
            <a:r>
              <a:rPr lang="zh-TW" altLang="en-US" dirty="0"/>
              <a:t> 都設定為</a:t>
            </a:r>
            <a:r>
              <a:rPr lang="en-US" altLang="zh-TW" dirty="0">
                <a:solidFill>
                  <a:srgbClr val="FF0000"/>
                </a:solidFill>
              </a:rPr>
              <a:t>10ps</a:t>
            </a:r>
          </a:p>
          <a:p>
            <a:pPr lvl="1"/>
            <a:r>
              <a:rPr lang="en-US" altLang="zh-TW" dirty="0"/>
              <a:t>Sweep </a:t>
            </a:r>
            <a:r>
              <a:rPr lang="en-US" altLang="zh-TW" dirty="0" err="1">
                <a:solidFill>
                  <a:srgbClr val="FF0000"/>
                </a:solidFill>
              </a:rPr>
              <a:t>Tdc</a:t>
            </a:r>
            <a:r>
              <a:rPr lang="en-US" altLang="zh-TW" dirty="0">
                <a:solidFill>
                  <a:srgbClr val="FF0000"/>
                </a:solidFill>
              </a:rPr>
              <a:t> </a:t>
            </a:r>
            <a:r>
              <a:rPr lang="zh-TW" altLang="en-US" dirty="0">
                <a:solidFill>
                  <a:srgbClr val="FF0000"/>
                </a:solidFill>
              </a:rPr>
              <a:t>的改變量為</a:t>
            </a:r>
            <a:r>
              <a:rPr lang="en-US" altLang="zh-TW" dirty="0">
                <a:solidFill>
                  <a:srgbClr val="FF0000"/>
                </a:solidFill>
              </a:rPr>
              <a:t>2ps</a:t>
            </a:r>
          </a:p>
          <a:p>
            <a:pPr lvl="1"/>
            <a:r>
              <a:rPr lang="zh-TW" altLang="en-US" dirty="0">
                <a:solidFill>
                  <a:schemeClr val="tx1"/>
                </a:solidFill>
              </a:rPr>
              <a:t>如果有問題請於</a:t>
            </a:r>
            <a:r>
              <a:rPr lang="en-US" altLang="zh-TW" dirty="0">
                <a:solidFill>
                  <a:schemeClr val="tx1"/>
                </a:solidFill>
              </a:rPr>
              <a:t>E3</a:t>
            </a:r>
            <a:r>
              <a:rPr lang="zh-TW" altLang="en-US" dirty="0">
                <a:solidFill>
                  <a:schemeClr val="tx1"/>
                </a:solidFill>
              </a:rPr>
              <a:t>討論區發問</a:t>
            </a:r>
            <a:endParaRPr lang="en-US" altLang="zh-TW" dirty="0">
              <a:solidFill>
                <a:schemeClr val="tx1"/>
              </a:solidFill>
            </a:endParaRPr>
          </a:p>
          <a:p>
            <a:pPr lvl="1"/>
            <a:r>
              <a:rPr lang="zh-TW" altLang="en-US" dirty="0">
                <a:solidFill>
                  <a:srgbClr val="FF0000"/>
                </a:solidFill>
              </a:rPr>
              <a:t>建議同學可以去回顧老師線上上課的錄影</a:t>
            </a:r>
            <a:r>
              <a:rPr lang="en-US" altLang="zh-TW" dirty="0">
                <a:solidFill>
                  <a:schemeClr val="tx1"/>
                </a:solidFill>
              </a:rPr>
              <a:t>(</a:t>
            </a:r>
            <a:r>
              <a:rPr lang="en-US" altLang="zh-TW" dirty="0">
                <a:solidFill>
                  <a:schemeClr val="tx1"/>
                </a:solidFill>
                <a:hlinkClick r:id="rId3"/>
              </a:rPr>
              <a:t>https://drive.google.com/drive/folders/1G7GUcM4EhRTh12nBjwicA8oEK4ZrtAXm?usp=drive_link</a:t>
            </a:r>
            <a:r>
              <a:rPr lang="en-US" altLang="zh-TW" dirty="0">
                <a:solidFill>
                  <a:schemeClr val="tx1"/>
                </a:solidFill>
              </a:rPr>
              <a:t>)</a:t>
            </a:r>
          </a:p>
          <a:p>
            <a:pPr lvl="1"/>
            <a:endParaRPr lang="en-US" altLang="zh-TW" dirty="0">
              <a:solidFill>
                <a:schemeClr val="tx1"/>
              </a:solidFill>
            </a:endParaRPr>
          </a:p>
        </p:txBody>
      </p:sp>
    </p:spTree>
    <p:extLst>
      <p:ext uri="{BB962C8B-B14F-4D97-AF65-F5344CB8AC3E}">
        <p14:creationId xmlns:p14="http://schemas.microsoft.com/office/powerpoint/2010/main" val="635079321"/>
      </p:ext>
    </p:extLst>
  </p:cSld>
  <p:clrMapOvr>
    <a:masterClrMapping/>
  </p:clrMapOvr>
  <p:transition>
    <p:zoom/>
  </p:transition>
</p:sld>
</file>

<file path=ppt/theme/theme1.xml><?xml version="1.0" encoding="utf-8"?>
<a:theme xmlns:a="http://schemas.openxmlformats.org/drawingml/2006/main" name="Arm_PPT_Public">
  <a:themeElements>
    <a:clrScheme name="Arm PPT">
      <a:dk1>
        <a:srgbClr val="000000"/>
      </a:dk1>
      <a:lt1>
        <a:srgbClr val="FFFFFF"/>
      </a:lt1>
      <a:dk2>
        <a:srgbClr val="333E48"/>
      </a:dk2>
      <a:lt2>
        <a:srgbClr val="E5ECEB"/>
      </a:lt2>
      <a:accent1>
        <a:srgbClr val="0091BD"/>
      </a:accent1>
      <a:accent2>
        <a:srgbClr val="002B49"/>
      </a:accent2>
      <a:accent3>
        <a:srgbClr val="FFC700"/>
      </a:accent3>
      <a:accent4>
        <a:srgbClr val="95D600"/>
      </a:accent4>
      <a:accent5>
        <a:srgbClr val="FF6B00"/>
      </a:accent5>
      <a:accent6>
        <a:srgbClr val="7D868C"/>
      </a:accent6>
      <a:hlink>
        <a:srgbClr val="00C1DE"/>
      </a:hlink>
      <a:folHlink>
        <a:srgbClr val="002F6C"/>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8100">
          <a:solidFill>
            <a:srgbClr val="FF0000"/>
          </a:solidFill>
        </a:ln>
      </a:spPr>
      <a:bodyPr rtlCol="0" anchor="ctr"/>
      <a:lstStyle>
        <a:defPPr algn="ctr">
          <a:defRPr dirty="0" smtClean="0">
            <a:solidFill>
              <a:srgbClr val="FF0000"/>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PT_Master_Arm_Limited_2019.potx  -  Read-Only" id="{D09A6074-4508-4365-A1DC-9585CABF9D5F}" vid="{3CD30893-EED7-4292-8C0A-ECC25221B6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customXsn xmlns="http://schemas.microsoft.com/office/2006/metadata/customXsn">
  <xsnLocation/>
  <cached>True</cached>
  <openByDefault>True</openByDefault>
  <xsnScope/>
</customXsn>
</file>

<file path=customXml/item3.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4.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5.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2.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3.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4.xml><?xml version="1.0" encoding="utf-8"?>
<ds:datastoreItem xmlns:ds="http://schemas.openxmlformats.org/officeDocument/2006/customXml" ds:itemID="{B61D4E06-5D3F-4994-A4A7-4BA626FA722D}">
  <ds:schemaRefs>
    <ds:schemaRef ds:uri="http://schemas.microsoft.com/office/2006/metadata/properties"/>
    <ds:schemaRef ds:uri="http://purl.org/dc/elements/1.1/"/>
    <ds:schemaRef ds:uri="http://schemas.microsoft.com/sharepoint/v3"/>
    <ds:schemaRef ds:uri="http://schemas.microsoft.com/sharepoint/v3/fields"/>
    <ds:schemaRef ds:uri="http://schemas.microsoft.com/office/infopath/2007/PartnerControls"/>
    <ds:schemaRef ds:uri="http://purl.org/dc/terms/"/>
    <ds:schemaRef ds:uri="http://schemas.openxmlformats.org/package/2006/metadata/core-properties"/>
    <ds:schemaRef ds:uri="c0950e01-db07-4e41-9c32-b7a8e9fccc9b"/>
    <ds:schemaRef ds:uri="http://schemas.microsoft.com/office/2006/documentManagement/types"/>
    <ds:schemaRef ds:uri="f2ad5090-61a8-4b8c-ab70-68f4ff4d1933"/>
    <ds:schemaRef ds:uri="http://www.w3.org/XML/1998/namespace"/>
    <ds:schemaRef ds:uri="http://purl.org/dc/dcmitype/"/>
  </ds:schemaRefs>
</ds:datastoreItem>
</file>

<file path=customXml/itemProps5.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Arm_Education_PPT_template_2019</Template>
  <TotalTime>0</TotalTime>
  <Words>814</Words>
  <Application>Microsoft Office PowerPoint</Application>
  <PresentationFormat>寬螢幕</PresentationFormat>
  <Paragraphs>61</Paragraphs>
  <Slides>7</Slides>
  <Notes>5</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7</vt:i4>
      </vt:variant>
    </vt:vector>
  </HeadingPairs>
  <TitlesOfParts>
    <vt:vector size="12" baseType="lpstr">
      <vt:lpstr>-apple-system</vt:lpstr>
      <vt:lpstr>Arial</vt:lpstr>
      <vt:lpstr>Calibri</vt:lpstr>
      <vt:lpstr>Wingdings</vt:lpstr>
      <vt:lpstr>Arm_PPT_Public</vt:lpstr>
      <vt:lpstr>Lab #1 Spice Simulation</vt:lpstr>
      <vt:lpstr>Lab #1 Spice Simulation</vt:lpstr>
      <vt:lpstr>Tutorial (備註有說明)</vt:lpstr>
      <vt:lpstr>Tutorial (備註有說明)</vt:lpstr>
      <vt:lpstr>Tutorial (備註有說明)</vt:lpstr>
      <vt:lpstr>Tutorial (備註有說明)</vt:lpstr>
      <vt:lpstr>Tutorial (備註有說明)</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CMOS VLSI Design  Lecture 10: SPICE Simulation</dc:title>
  <dc:subject/>
  <dc:creator/>
  <cp:keywords/>
  <dc:description/>
  <cp:lastModifiedBy/>
  <cp:revision>51</cp:revision>
  <dcterms:created xsi:type="dcterms:W3CDTF">2019-04-08T13:00:08Z</dcterms:created>
  <dcterms:modified xsi:type="dcterms:W3CDTF">2025-04-28T06:23:09Z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