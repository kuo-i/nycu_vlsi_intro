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5431" r:id="rId6"/>
  </p:sldMasterIdLst>
  <p:notesMasterIdLst>
    <p:notesMasterId r:id="rId18"/>
  </p:notesMasterIdLst>
  <p:handoutMasterIdLst>
    <p:handoutMasterId r:id="rId19"/>
  </p:handoutMasterIdLst>
  <p:sldIdLst>
    <p:sldId id="419" r:id="rId7"/>
    <p:sldId id="408" r:id="rId8"/>
    <p:sldId id="410" r:id="rId9"/>
    <p:sldId id="411" r:id="rId10"/>
    <p:sldId id="412" r:id="rId11"/>
    <p:sldId id="413" r:id="rId12"/>
    <p:sldId id="414" r:id="rId13"/>
    <p:sldId id="415" r:id="rId14"/>
    <p:sldId id="416" r:id="rId15"/>
    <p:sldId id="417" r:id="rId16"/>
    <p:sldId id="418" r:id="rId17"/>
  </p:sldIdLst>
  <p:sldSz cx="12192000" cy="6858000"/>
  <p:notesSz cx="6858000" cy="18288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1DE"/>
    <a:srgbClr val="E5ECEB"/>
    <a:srgbClr val="95D600"/>
    <a:srgbClr val="FF6B00"/>
    <a:srgbClr val="FFC600"/>
    <a:srgbClr val="FF6900"/>
    <a:srgbClr val="93E5FF"/>
    <a:srgbClr val="7B7F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04" autoAdjust="0"/>
    <p:restoredTop sz="93223" autoAdjust="0"/>
  </p:normalViewPr>
  <p:slideViewPr>
    <p:cSldViewPr snapToGrid="0">
      <p:cViewPr varScale="1">
        <p:scale>
          <a:sx n="71" d="100"/>
          <a:sy n="71" d="100"/>
        </p:scale>
        <p:origin x="72" y="41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275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B394A5-FD1F-430F-BB3A-F7878AC293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ABC0BB-F774-4303-9701-003B3E743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EB52217F-109B-4561-ACE4-BE073A308A21}" type="datetimeFigureOut">
              <a:rPr lang="en-US" altLang="en-US"/>
              <a:pPr>
                <a:defRPr/>
              </a:pPr>
              <a:t>4/2/2025</a:t>
            </a:fld>
            <a:endParaRPr lang="en-US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CE605-DAD4-4C64-BE6E-BE3D8E550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99187-58AF-4D6B-8526-D5C98A6AF8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79C45C6D-DBFC-4B67-A8DE-9C2360ACC98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531822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7C0424-39BA-4205-9510-7D8372B40F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0861BC-4E89-4909-9F41-7A6E2018373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5B25F150-DB0B-4758-AFA9-222A6E446235}" type="datetimeFigureOut">
              <a:rPr lang="en-US" altLang="en-US"/>
              <a:pPr>
                <a:defRPr/>
              </a:pPr>
              <a:t>4/2/2025</a:t>
            </a:fld>
            <a:endParaRPr lang="en-US" alt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5B20C51-CC4D-4C34-9C63-92F50CE02E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AC138B7-E2A5-4B5D-ADC2-E53A511B52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61A1A-4481-471C-A253-BE997586AA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0DDD9-A1C6-46BA-89ED-AF0DD2672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3B16354E-6974-4833-AB87-3220A0835E8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767580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ts val="6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80BE67C-B00B-7444-99B6-10A3997029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82" t="3803" r="2134" b="12930"/>
          <a:stretch/>
        </p:blipFill>
        <p:spPr>
          <a:xfrm>
            <a:off x="0" y="492549"/>
            <a:ext cx="12192000" cy="6857999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42EC3731-9F30-0D4B-A054-E13DBA0EE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37466"/>
            <a:ext cx="5113338" cy="1519514"/>
          </a:xfrm>
        </p:spPr>
        <p:txBody>
          <a:bodyPr anchor="t" anchorCtr="0"/>
          <a:lstStyle>
            <a:lvl1pPr algn="r">
              <a:lnSpc>
                <a:spcPct val="85000"/>
              </a:lnSpc>
              <a:defRPr sz="55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Divider Page Title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1499DC14-57F4-EA4C-ABBC-0ECD735C4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4556980"/>
            <a:ext cx="5113338" cy="702444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29" name="Picture 16">
            <a:extLst>
              <a:ext uri="{FF2B5EF4-FFF2-40B4-BE49-F238E27FC236}">
                <a16:creationId xmlns:a16="http://schemas.microsoft.com/office/drawing/2014/main" id="{0A94567B-B8A8-AB41-BF7F-41919C86BD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31972" y="1173991"/>
            <a:ext cx="1677366" cy="513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3727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 with TOP level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08622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3250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 w/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2"/>
            <a:ext cx="11233150" cy="51283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479425" y="1554490"/>
            <a:ext cx="11233150" cy="408710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200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750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83333C0-34BE-704E-807B-860FBC2357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82" t="3803" r="2134" b="12930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7078942" y="1087378"/>
            <a:ext cx="423330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defRPr/>
            </a:pPr>
            <a:r>
              <a:rPr lang="en-US" altLang="x-none" sz="1200" dirty="0">
                <a:solidFill>
                  <a:schemeClr val="bg1"/>
                </a:solidFill>
              </a:rPr>
              <a:t>The Arm trademarks featured in this presentation are registered trademarks or trademarks of Arm Limited (or its subsidiaries) in the US and/or elsewhere.  All rights reserved.  All other marks featured may be trademarks of their respective owners.</a:t>
            </a:r>
          </a:p>
          <a:p>
            <a:pPr algn="r">
              <a:defRPr/>
            </a:pPr>
            <a:br>
              <a:rPr lang="en-US" altLang="x-none" sz="1200" dirty="0">
                <a:solidFill>
                  <a:schemeClr val="bg1"/>
                </a:solidFill>
              </a:rPr>
            </a:br>
            <a:r>
              <a:rPr lang="en-US" altLang="x-none" sz="1200" dirty="0">
                <a:solidFill>
                  <a:schemeClr val="bg1"/>
                </a:solidFill>
              </a:rPr>
              <a:t>www.arm.com/company/policies/trademarks</a:t>
            </a:r>
          </a:p>
        </p:txBody>
      </p:sp>
      <p:pic>
        <p:nvPicPr>
          <p:cNvPr id="10" name="Picture 16">
            <a:extLst>
              <a:ext uri="{FF2B5EF4-FFF2-40B4-BE49-F238E27FC236}">
                <a16:creationId xmlns:a16="http://schemas.microsoft.com/office/drawing/2014/main" id="{DAF95499-8272-DF43-8B3C-788EA26EBD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2663" y="1173991"/>
            <a:ext cx="1677366" cy="513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0716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TextBox 26"/>
          <p:cNvSpPr txBox="1">
            <a:spLocks noChangeArrowheads="1"/>
          </p:cNvSpPr>
          <p:nvPr userDrawn="1"/>
        </p:nvSpPr>
        <p:spPr bwMode="auto">
          <a:xfrm>
            <a:off x="492125" y="6410643"/>
            <a:ext cx="312738" cy="1381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1000" smtClean="0">
                <a:solidFill>
                  <a:srgbClr val="7F7F7F"/>
                </a:solidFill>
              </a:rPr>
              <a:pPr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1000" dirty="0">
              <a:solidFill>
                <a:srgbClr val="7F7F7F"/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4EB643E-3109-434C-BA97-15D4C8A5E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133061"/>
            <a:ext cx="11243088" cy="46009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79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10" r:id="rId1"/>
    <p:sldLayoutId id="2147485440" r:id="rId2"/>
    <p:sldLayoutId id="2147485441" r:id="rId3"/>
    <p:sldLayoutId id="2147485453" r:id="rId4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0" kern="1200" spc="-50">
          <a:solidFill>
            <a:schemeClr val="accent1"/>
          </a:solidFill>
          <a:latin typeface="+mn-lt"/>
          <a:ea typeface="ＭＳ Ｐゴシック" charset="0"/>
          <a:cs typeface="ＭＳ Ｐゴシック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9pPr>
    </p:titleStyle>
    <p:bodyStyle>
      <a:lvl1pPr marL="342900" indent="-342900" algn="l" rtl="0" eaLnBrk="1" fontAlgn="base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Font typeface="Arial" charset="0"/>
        <a:buChar char="•"/>
        <a:defRPr sz="2400" kern="1200">
          <a:solidFill>
            <a:schemeClr val="tx2"/>
          </a:solidFill>
          <a:latin typeface="+mn-lt"/>
          <a:ea typeface="ＭＳ Ｐゴシック" charset="0"/>
          <a:cs typeface="ＭＳ Ｐゴシック" charset="0"/>
        </a:defRPr>
      </a:lvl1pPr>
      <a:lvl2pPr marL="581343" indent="-16668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Arial" charset="0"/>
        <a:buChar char="•"/>
        <a:defRPr sz="2000" kern="1200">
          <a:solidFill>
            <a:srgbClr val="383838"/>
          </a:solidFill>
          <a:latin typeface="+mn-lt"/>
          <a:ea typeface="ＭＳ Ｐゴシック" charset="0"/>
          <a:cs typeface="+mn-cs"/>
        </a:defRPr>
      </a:lvl2pPr>
      <a:lvl3pPr marL="855663" indent="-16668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charset="0"/>
        <a:buChar char="–"/>
        <a:defRPr kern="1200">
          <a:solidFill>
            <a:srgbClr val="383838"/>
          </a:solidFill>
          <a:latin typeface="+mn-lt"/>
          <a:ea typeface="ＭＳ Ｐゴシック" charset="0"/>
          <a:cs typeface="+mn-cs"/>
        </a:defRPr>
      </a:lvl3pPr>
      <a:lvl4pPr marL="1201738" indent="-17303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charset="2"/>
        <a:buChar char="§"/>
        <a:defRPr kern="1200">
          <a:solidFill>
            <a:srgbClr val="383838"/>
          </a:solidFill>
          <a:latin typeface="+mn-lt"/>
          <a:ea typeface="ＭＳ Ｐゴシック" charset="0"/>
          <a:cs typeface="+mn-cs"/>
        </a:defRPr>
      </a:lvl4pPr>
      <a:lvl5pPr marL="1427163" indent="-168275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charset="0"/>
        <a:buChar char="–"/>
        <a:defRPr kern="1200">
          <a:solidFill>
            <a:srgbClr val="383838"/>
          </a:solidFill>
          <a:latin typeface="+mn-lt"/>
          <a:ea typeface="ＭＳ Ｐゴシック" charset="0"/>
          <a:cs typeface="+mn-cs"/>
        </a:defRPr>
      </a:lvl5pPr>
      <a:lvl6pPr marL="16550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6pPr>
      <a:lvl7pPr marL="18836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7pPr>
      <a:lvl8pPr marL="21122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8pPr>
      <a:lvl9pPr marL="23408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619" userDrawn="1">
          <p15:clr>
            <a:srgbClr val="F26B43"/>
          </p15:clr>
        </p15:guide>
        <p15:guide id="4" orient="horz" pos="300" userDrawn="1">
          <p15:clr>
            <a:srgbClr val="F26B43"/>
          </p15:clr>
        </p15:guide>
        <p15:guide id="5" orient="horz" pos="4020" userDrawn="1">
          <p15:clr>
            <a:srgbClr val="F26B43"/>
          </p15:clr>
        </p15:guide>
        <p15:guide id="6" pos="7378" userDrawn="1">
          <p15:clr>
            <a:srgbClr val="F26B43"/>
          </p15:clr>
        </p15:guide>
        <p15:guide id="7" pos="302" userDrawn="1">
          <p15:clr>
            <a:srgbClr val="F26B43"/>
          </p15:clr>
        </p15:guide>
        <p15:guide id="8" pos="70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daplayground.com/x/YrzV" TargetMode="External"/><Relationship Id="rId2" Type="http://schemas.openxmlformats.org/officeDocument/2006/relationships/hyperlink" Target="https://edaplayground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daplayground.com/x/WkNg" TargetMode="External"/><Relationship Id="rId4" Type="http://schemas.openxmlformats.org/officeDocument/2006/relationships/hyperlink" Target="https://edaplayground.com/x/AtHz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BD3CB3-7D6F-46BE-AC86-007E253BB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#3 of</a:t>
            </a:r>
            <a:r>
              <a:rPr lang="zh-TW" altLang="en-US" dirty="0"/>
              <a:t> </a:t>
            </a:r>
            <a:r>
              <a:rPr lang="en-US" altLang="zh-TW" dirty="0"/>
              <a:t>Introduction to VLSI Design</a:t>
            </a:r>
            <a:r>
              <a:rPr lang="zh-TW" altLang="en-US" dirty="0"/>
              <a:t> 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86F59A-84FF-4597-A487-74DB3917A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1171111"/>
            <a:ext cx="11233150" cy="4685403"/>
          </a:xfrm>
        </p:spPr>
        <p:txBody>
          <a:bodyPr/>
          <a:lstStyle/>
          <a:p>
            <a:pPr lvl="1"/>
            <a:r>
              <a:rPr lang="zh-TW" altLang="en-US" dirty="0"/>
              <a:t>作業繳交截止日期</a:t>
            </a:r>
            <a:r>
              <a:rPr lang="en-US" altLang="zh-TW" dirty="0"/>
              <a:t>: </a:t>
            </a:r>
            <a:r>
              <a:rPr lang="en-US" altLang="zh-TW" dirty="0">
                <a:highlight>
                  <a:srgbClr val="FFFF00"/>
                </a:highlight>
              </a:rPr>
              <a:t>April 9, 2025, 23:59 (2 week)</a:t>
            </a:r>
          </a:p>
          <a:p>
            <a:pPr marL="506095" lvl="1" indent="0">
              <a:buNone/>
            </a:pPr>
            <a:r>
              <a:rPr lang="en-US" altLang="zh-TW" dirty="0"/>
              <a:t>	(</a:t>
            </a:r>
            <a:r>
              <a:rPr lang="zh-TW" altLang="en-US" dirty="0"/>
              <a:t>上傳</a:t>
            </a:r>
            <a:r>
              <a:rPr lang="en-US" altLang="zh-TW" dirty="0">
                <a:highlight>
                  <a:srgbClr val="FFFF00"/>
                </a:highlight>
              </a:rPr>
              <a:t>E3</a:t>
            </a:r>
            <a:r>
              <a:rPr lang="zh-TW" altLang="en-US" dirty="0">
                <a:highlight>
                  <a:srgbClr val="FFFF00"/>
                </a:highlight>
              </a:rPr>
              <a:t>數位平台</a:t>
            </a:r>
            <a:r>
              <a:rPr lang="zh-TW" altLang="en-US" dirty="0"/>
              <a:t>繳交</a:t>
            </a:r>
            <a:r>
              <a:rPr lang="en-US" altLang="zh-TW" dirty="0"/>
              <a:t>) </a:t>
            </a:r>
          </a:p>
          <a:p>
            <a:pPr marL="506095" lvl="1" indent="0">
              <a:buNone/>
            </a:pPr>
            <a:endParaRPr lang="en-US" altLang="zh-TW" dirty="0"/>
          </a:p>
          <a:p>
            <a:pPr marL="506095" lvl="1" indent="0">
              <a:buNone/>
            </a:pPr>
            <a:r>
              <a:rPr lang="en-US" altLang="zh-TW" dirty="0"/>
              <a:t>	</a:t>
            </a:r>
            <a:r>
              <a:rPr lang="en-US" altLang="zh-TW" b="0" i="0" dirty="0">
                <a:solidFill>
                  <a:srgbClr val="1D2125"/>
                </a:solidFill>
                <a:effectLst/>
                <a:latin typeface="-apple-system"/>
              </a:rPr>
              <a:t>24 hours after the deadline: 20% penalty</a:t>
            </a:r>
          </a:p>
          <a:p>
            <a:pPr marL="506095" lvl="1" indent="0">
              <a:buNone/>
            </a:pPr>
            <a:r>
              <a:rPr lang="en-US" altLang="zh-TW" b="0" i="0" dirty="0">
                <a:solidFill>
                  <a:srgbClr val="1D2125"/>
                </a:solidFill>
                <a:effectLst/>
                <a:latin typeface="-apple-system"/>
              </a:rPr>
              <a:t>	48 hours after the deadline: 50% penalty</a:t>
            </a:r>
          </a:p>
          <a:p>
            <a:pPr marL="506095" lvl="1" indent="0">
              <a:buNone/>
            </a:pPr>
            <a:r>
              <a:rPr lang="en-US" altLang="zh-TW" dirty="0">
                <a:solidFill>
                  <a:srgbClr val="1D2125"/>
                </a:solidFill>
                <a:latin typeface="-apple-system"/>
              </a:rPr>
              <a:t>	</a:t>
            </a:r>
            <a:r>
              <a:rPr lang="en-US" altLang="zh-TW" b="0" i="0" dirty="0">
                <a:solidFill>
                  <a:srgbClr val="FF0000"/>
                </a:solidFill>
                <a:effectLst/>
                <a:latin typeface="-apple-system"/>
              </a:rPr>
              <a:t>No submissions accepted after 48 hours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r>
              <a:rPr lang="zh-TW" altLang="en-US" dirty="0"/>
              <a:t>檔名： </a:t>
            </a:r>
            <a:r>
              <a:rPr lang="en-US" altLang="zh-TW" dirty="0"/>
              <a:t>VLSI_HW3_</a:t>
            </a:r>
            <a:r>
              <a:rPr lang="zh-TW" altLang="en-US" dirty="0"/>
              <a:t>學號</a:t>
            </a:r>
            <a:r>
              <a:rPr lang="en-US" altLang="zh-TW" dirty="0"/>
              <a:t>.pdf (VLSI_HW3_112345678)</a:t>
            </a:r>
          </a:p>
          <a:p>
            <a:pPr marL="506095" lvl="1" indent="0">
              <a:buNone/>
            </a:pPr>
            <a:r>
              <a:rPr lang="en-US" altLang="zh-TW" dirty="0"/>
              <a:t>	</a:t>
            </a:r>
            <a:r>
              <a:rPr lang="zh-TW" altLang="en-US" dirty="0"/>
              <a:t>請將檔案轉成</a:t>
            </a:r>
            <a:r>
              <a:rPr lang="en-US" altLang="zh-TW" dirty="0"/>
              <a:t>PDF</a:t>
            </a:r>
            <a:r>
              <a:rPr lang="zh-TW" altLang="en-US" dirty="0"/>
              <a:t>格式 </a:t>
            </a:r>
            <a:r>
              <a:rPr lang="en-US" altLang="zh-TW" dirty="0"/>
              <a:t>(</a:t>
            </a:r>
            <a:r>
              <a:rPr lang="zh-TW" altLang="en-US" dirty="0"/>
              <a:t>命名錯誤扣</a:t>
            </a:r>
            <a:r>
              <a:rPr lang="en-US" altLang="zh-TW" dirty="0"/>
              <a:t>5</a:t>
            </a:r>
            <a:r>
              <a:rPr lang="zh-TW" altLang="en-US" dirty="0"/>
              <a:t>分</a:t>
            </a:r>
            <a:r>
              <a:rPr lang="en-US" altLang="zh-TW" dirty="0"/>
              <a:t>)</a:t>
            </a:r>
          </a:p>
          <a:p>
            <a:pPr marL="506095" lvl="1" indent="0">
              <a:buNone/>
            </a:pPr>
            <a:endParaRPr lang="en-US" altLang="zh-TW" dirty="0"/>
          </a:p>
          <a:p>
            <a:pPr lvl="1"/>
            <a:r>
              <a:rPr lang="en-US" altLang="zh-TW" dirty="0"/>
              <a:t>HW 3.2, HW 3.3, HW 3.4 </a:t>
            </a:r>
            <a:r>
              <a:rPr lang="zh-TW" altLang="en-US" dirty="0"/>
              <a:t>請命名為 </a:t>
            </a:r>
            <a:r>
              <a:rPr lang="en-US" altLang="zh-TW" dirty="0"/>
              <a:t>”</a:t>
            </a:r>
            <a:r>
              <a:rPr lang="zh-TW" altLang="en-US" dirty="0"/>
              <a:t>學號</a:t>
            </a:r>
            <a:r>
              <a:rPr lang="en-US" altLang="zh-TW" dirty="0"/>
              <a:t>_3.2.sv”, ”</a:t>
            </a:r>
            <a:r>
              <a:rPr lang="zh-TW" altLang="en-US" dirty="0"/>
              <a:t>學號</a:t>
            </a:r>
            <a:r>
              <a:rPr lang="en-US" altLang="zh-TW" dirty="0"/>
              <a:t>_3.3.sv”, ”</a:t>
            </a:r>
            <a:r>
              <a:rPr lang="zh-TW" altLang="en-US" dirty="0"/>
              <a:t>學號</a:t>
            </a:r>
            <a:r>
              <a:rPr lang="en-US" altLang="zh-TW" dirty="0"/>
              <a:t>_3.4.sv”</a:t>
            </a:r>
          </a:p>
          <a:p>
            <a:pPr lvl="1"/>
            <a:r>
              <a:rPr lang="zh-TW" altLang="en-US" dirty="0"/>
              <a:t>將</a:t>
            </a:r>
            <a:r>
              <a:rPr lang="en-US" altLang="zh-TW" dirty="0"/>
              <a:t>3</a:t>
            </a:r>
            <a:r>
              <a:rPr lang="zh-TW" altLang="en-US" dirty="0"/>
              <a:t>個*</a:t>
            </a:r>
            <a:r>
              <a:rPr lang="en-US" altLang="zh-TW" dirty="0"/>
              <a:t>.</a:t>
            </a:r>
            <a:r>
              <a:rPr lang="en-US" altLang="zh-TW" dirty="0" err="1"/>
              <a:t>sv</a:t>
            </a:r>
            <a:r>
              <a:rPr lang="zh-TW" altLang="en-US" dirty="0"/>
              <a:t>檔壓縮成</a:t>
            </a:r>
            <a:r>
              <a:rPr lang="en-US" altLang="zh-TW" dirty="0"/>
              <a:t>”</a:t>
            </a:r>
            <a:r>
              <a:rPr lang="zh-TW" altLang="en-US" dirty="0"/>
              <a:t>學號</a:t>
            </a:r>
            <a:r>
              <a:rPr lang="en-US" altLang="zh-TW" dirty="0"/>
              <a:t>.zip”</a:t>
            </a:r>
            <a:r>
              <a:rPr lang="zh-TW" altLang="en-US" dirty="0"/>
              <a:t>上傳至</a:t>
            </a:r>
            <a:r>
              <a:rPr lang="en-US" altLang="zh-TW" dirty="0"/>
              <a:t>E3</a:t>
            </a:r>
            <a:r>
              <a:rPr lang="zh-TW" altLang="en-US" dirty="0"/>
              <a:t>平台</a:t>
            </a:r>
            <a:endParaRPr lang="en-US" altLang="zh-TW" dirty="0"/>
          </a:p>
          <a:p>
            <a:pPr lvl="1"/>
            <a:r>
              <a:rPr lang="zh-TW" altLang="en-US" dirty="0"/>
              <a:t>在</a:t>
            </a:r>
            <a:r>
              <a:rPr lang="en-US" altLang="zh-TW" dirty="0"/>
              <a:t>HW 3.2, HW 3.3, HW 3.4</a:t>
            </a:r>
            <a:r>
              <a:rPr lang="zh-TW" altLang="en-US" dirty="0"/>
              <a:t>的</a:t>
            </a:r>
            <a:r>
              <a:rPr lang="en-US" altLang="zh-TW" dirty="0"/>
              <a:t>.</a:t>
            </a:r>
            <a:r>
              <a:rPr lang="en-US" altLang="zh-TW" dirty="0" err="1"/>
              <a:t>sv</a:t>
            </a:r>
            <a:r>
              <a:rPr lang="zh-TW" altLang="en-US" dirty="0"/>
              <a:t>檔中</a:t>
            </a:r>
            <a:r>
              <a:rPr lang="zh-TW" altLang="en-US" dirty="0">
                <a:solidFill>
                  <a:srgbClr val="FF0000"/>
                </a:solidFill>
              </a:rPr>
              <a:t>禁止使用 </a:t>
            </a:r>
            <a:r>
              <a:rPr lang="en-US" altLang="zh-TW" dirty="0">
                <a:solidFill>
                  <a:srgbClr val="FF0000"/>
                </a:solidFill>
              </a:rPr>
              <a:t>”+, -, *, /” </a:t>
            </a:r>
            <a:r>
              <a:rPr lang="zh-TW" altLang="en-US" dirty="0">
                <a:solidFill>
                  <a:srgbClr val="FF0000"/>
                </a:solidFill>
              </a:rPr>
              <a:t>運算符號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r>
              <a:rPr lang="zh-TW" altLang="en-US" dirty="0">
                <a:solidFill>
                  <a:srgbClr val="FF0000"/>
                </a:solidFill>
              </a:rPr>
              <a:t>可以使用 </a:t>
            </a:r>
            <a:r>
              <a:rPr lang="en-US" altLang="zh-TW" dirty="0">
                <a:solidFill>
                  <a:srgbClr val="FF0000"/>
                </a:solidFill>
              </a:rPr>
              <a:t>”&amp;, |, ^, !” (bit AND, OR, XOR, NOT) </a:t>
            </a:r>
            <a:r>
              <a:rPr lang="zh-TW" altLang="en-US" dirty="0">
                <a:solidFill>
                  <a:srgbClr val="FF0000"/>
                </a:solidFill>
              </a:rPr>
              <a:t>或是 </a:t>
            </a:r>
            <a:r>
              <a:rPr lang="en-US" altLang="zh-TW" dirty="0">
                <a:solidFill>
                  <a:srgbClr val="FF0000"/>
                </a:solidFill>
              </a:rPr>
              <a:t>“&amp;&amp;, ||, ~” (logic AND, OR, NOT)</a:t>
            </a:r>
            <a:endParaRPr lang="en-US" altLang="zh-TW" dirty="0">
              <a:solidFill>
                <a:schemeClr val="tx1"/>
              </a:solidFill>
            </a:endParaRPr>
          </a:p>
          <a:p>
            <a:pPr lvl="1"/>
            <a:r>
              <a:rPr lang="en-US" altLang="zh-TW" dirty="0"/>
              <a:t>Module </a:t>
            </a:r>
            <a:r>
              <a:rPr lang="zh-TW" altLang="en-US" dirty="0"/>
              <a:t>的</a:t>
            </a:r>
            <a:r>
              <a:rPr lang="zh-TW" altLang="en-US" dirty="0">
                <a:highlight>
                  <a:srgbClr val="FFFF00"/>
                </a:highlight>
              </a:rPr>
              <a:t>命名</a:t>
            </a:r>
            <a:r>
              <a:rPr lang="zh-TW" altLang="en-US" dirty="0"/>
              <a:t>請按照規定的名稱，</a:t>
            </a:r>
            <a:r>
              <a:rPr lang="en-US" altLang="zh-TW" dirty="0">
                <a:highlight>
                  <a:srgbClr val="FFFF00"/>
                </a:highlight>
              </a:rPr>
              <a:t>Port</a:t>
            </a:r>
            <a:r>
              <a:rPr lang="zh-TW" altLang="en-US" dirty="0">
                <a:highlight>
                  <a:srgbClr val="FFFF00"/>
                </a:highlight>
              </a:rPr>
              <a:t>順序</a:t>
            </a:r>
            <a:r>
              <a:rPr lang="zh-TW" altLang="en-US" dirty="0"/>
              <a:t>以及</a:t>
            </a:r>
            <a:r>
              <a:rPr lang="en-US" altLang="zh-TW" dirty="0">
                <a:highlight>
                  <a:srgbClr val="FFFF00"/>
                </a:highlight>
              </a:rPr>
              <a:t>Port bit</a:t>
            </a:r>
            <a:r>
              <a:rPr lang="zh-TW" altLang="en-US" dirty="0">
                <a:highlight>
                  <a:srgbClr val="FFFF00"/>
                </a:highlight>
              </a:rPr>
              <a:t>數</a:t>
            </a:r>
            <a:endParaRPr lang="en-US" altLang="zh-TW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pPr marL="506095" lvl="1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59004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D2A6CE1-2E45-5E93-7F63-71541F52C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Assignment #3.11 </a:t>
            </a:r>
            <a:r>
              <a:rPr lang="en-US" altLang="zh-TW" b="1" dirty="0"/>
              <a:t>10%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A29D6E7-3A2E-1FDA-1E73-3C1D31F72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Annotate the labels for the following layouts</a:t>
            </a:r>
          </a:p>
          <a:p>
            <a:pPr lvl="1"/>
            <a:r>
              <a:rPr lang="en-US" altLang="zh-TW" dirty="0"/>
              <a:t>word, bit, </a:t>
            </a:r>
            <a:r>
              <a:rPr lang="en-US" altLang="zh-TW" dirty="0" err="1"/>
              <a:t>bit_b</a:t>
            </a:r>
            <a:r>
              <a:rPr lang="en-US" altLang="zh-TW" dirty="0"/>
              <a:t>, N1,N2,N3,N4,P1,P2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994E2CDF-8360-4803-9515-B72D031ED3EA}"/>
              </a:ext>
            </a:extLst>
          </p:cNvPr>
          <p:cNvGrpSpPr/>
          <p:nvPr/>
        </p:nvGrpSpPr>
        <p:grpSpPr>
          <a:xfrm>
            <a:off x="551858" y="2778168"/>
            <a:ext cx="3459381" cy="2140973"/>
            <a:chOff x="900833" y="2259056"/>
            <a:chExt cx="3459381" cy="2140973"/>
          </a:xfrm>
        </p:grpSpPr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359B2082-15DF-7A08-9C99-C7D28BE88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900833" y="2259056"/>
              <a:ext cx="3459381" cy="2140973"/>
            </a:xfrm>
            <a:prstGeom prst="rect">
              <a:avLst/>
            </a:prstGeom>
          </p:spPr>
        </p:pic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3EBF061C-2D17-0D0A-ED26-8E851EBE0344}"/>
                </a:ext>
              </a:extLst>
            </p:cNvPr>
            <p:cNvSpPr txBox="1"/>
            <p:nvPr/>
          </p:nvSpPr>
          <p:spPr>
            <a:xfrm>
              <a:off x="1885132" y="3512753"/>
              <a:ext cx="309380" cy="2908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altLang="zh-TW" sz="21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N3</a:t>
              </a:r>
              <a:endParaRPr lang="zh-TW" altLang="en-US" sz="21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E6113735-432B-A96B-D603-DD0C240A78A8}"/>
                </a:ext>
              </a:extLst>
            </p:cNvPr>
            <p:cNvSpPr txBox="1"/>
            <p:nvPr/>
          </p:nvSpPr>
          <p:spPr>
            <a:xfrm>
              <a:off x="3599700" y="3512752"/>
              <a:ext cx="309380" cy="2908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altLang="zh-TW" sz="21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N4</a:t>
              </a:r>
              <a:endParaRPr lang="zh-TW" altLang="en-US" sz="21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24FA385B-AA35-9A9B-B2BA-749A23407BCD}"/>
                </a:ext>
              </a:extLst>
            </p:cNvPr>
            <p:cNvSpPr txBox="1"/>
            <p:nvPr/>
          </p:nvSpPr>
          <p:spPr>
            <a:xfrm>
              <a:off x="2033354" y="3803601"/>
              <a:ext cx="309380" cy="2908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altLang="zh-TW" sz="21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N1</a:t>
              </a:r>
              <a:endParaRPr lang="zh-TW" altLang="en-US" sz="21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EFD7F409-63FB-73ED-F316-50F94B4AE1AA}"/>
                </a:ext>
              </a:extLst>
            </p:cNvPr>
            <p:cNvSpPr txBox="1"/>
            <p:nvPr/>
          </p:nvSpPr>
          <p:spPr>
            <a:xfrm>
              <a:off x="3451478" y="3782595"/>
              <a:ext cx="309380" cy="2908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altLang="zh-TW" sz="21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N2</a:t>
              </a:r>
              <a:endParaRPr lang="zh-TW" altLang="en-US" sz="21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35D1782B-5DB3-3144-F4AB-3B4BD665A050}"/>
                </a:ext>
              </a:extLst>
            </p:cNvPr>
            <p:cNvSpPr txBox="1"/>
            <p:nvPr/>
          </p:nvSpPr>
          <p:spPr>
            <a:xfrm>
              <a:off x="2130810" y="3084100"/>
              <a:ext cx="275717" cy="2908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altLang="zh-TW" sz="2100" dirty="0">
                  <a:solidFill>
                    <a:schemeClr val="tx2"/>
                  </a:solidFill>
                  <a:latin typeface="+mn-lt"/>
                  <a:ea typeface="+mn-ea"/>
                </a:rPr>
                <a:t>P</a:t>
              </a:r>
              <a:r>
                <a:rPr lang="en-US" altLang="zh-TW" sz="21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TW" altLang="en-US" sz="21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53BE8F04-33F4-0D49-E70E-396542D7F03E}"/>
                </a:ext>
              </a:extLst>
            </p:cNvPr>
            <p:cNvSpPr txBox="1"/>
            <p:nvPr/>
          </p:nvSpPr>
          <p:spPr>
            <a:xfrm>
              <a:off x="3360787" y="3118580"/>
              <a:ext cx="275717" cy="2908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altLang="zh-TW" sz="2100" dirty="0">
                  <a:solidFill>
                    <a:schemeClr val="tx2"/>
                  </a:solidFill>
                  <a:latin typeface="+mn-lt"/>
                  <a:ea typeface="+mn-ea"/>
                </a:rPr>
                <a:t>P2</a:t>
              </a:r>
              <a:endParaRPr lang="zh-TW" altLang="en-US" sz="21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13" name="圖片 12" descr="一張含有 文字, 圖表, 螢幕擷取畫面, 方案 的圖片">
            <a:extLst>
              <a:ext uri="{FF2B5EF4-FFF2-40B4-BE49-F238E27FC236}">
                <a16:creationId xmlns:a16="http://schemas.microsoft.com/office/drawing/2014/main" id="{715037EC-7A1B-B20E-2A6B-263052485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672" y="1774565"/>
            <a:ext cx="7543855" cy="392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761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DC28F-736A-1783-4665-34F8ED21E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6B89CCD-D1EA-B730-DE75-C957F3C23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#3.12 (Cont’d) </a:t>
            </a:r>
            <a:r>
              <a:rPr lang="en-US" altLang="zh-TW" b="1" dirty="0"/>
              <a:t>10%</a:t>
            </a:r>
            <a:br>
              <a:rPr lang="en-US" altLang="zh-TW" dirty="0"/>
            </a:br>
            <a:endParaRPr lang="zh-TW" altLang="en-US" dirty="0"/>
          </a:p>
        </p:txBody>
      </p:sp>
      <p:pic>
        <p:nvPicPr>
          <p:cNvPr id="12" name="圖片 11" descr="一張含有 文字, 圖表, 螢幕擷取畫面, 方案 的圖片&#10;&#10;AI 產生的內容可能不正確。">
            <a:extLst>
              <a:ext uri="{FF2B5EF4-FFF2-40B4-BE49-F238E27FC236}">
                <a16:creationId xmlns:a16="http://schemas.microsoft.com/office/drawing/2014/main" id="{BA91CDDC-9DF2-2C8A-4877-E5F1EEB71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105" y="1598378"/>
            <a:ext cx="7929620" cy="4119593"/>
          </a:xfrm>
          <a:prstGeom prst="rect">
            <a:avLst/>
          </a:prstGeom>
        </p:spPr>
      </p:pic>
      <p:grpSp>
        <p:nvGrpSpPr>
          <p:cNvPr id="17" name="群組 16">
            <a:extLst>
              <a:ext uri="{FF2B5EF4-FFF2-40B4-BE49-F238E27FC236}">
                <a16:creationId xmlns:a16="http://schemas.microsoft.com/office/drawing/2014/main" id="{60B7478A-419F-44D7-398B-1C645E4B3422}"/>
              </a:ext>
            </a:extLst>
          </p:cNvPr>
          <p:cNvGrpSpPr/>
          <p:nvPr/>
        </p:nvGrpSpPr>
        <p:grpSpPr>
          <a:xfrm>
            <a:off x="323574" y="2259055"/>
            <a:ext cx="3459381" cy="2140973"/>
            <a:chOff x="900833" y="2259056"/>
            <a:chExt cx="3459381" cy="2140973"/>
          </a:xfrm>
        </p:grpSpPr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3C6DD414-B799-E189-5679-79293CDA5C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00833" y="2259056"/>
              <a:ext cx="3459381" cy="2140973"/>
            </a:xfrm>
            <a:prstGeom prst="rect">
              <a:avLst/>
            </a:prstGeom>
          </p:spPr>
        </p:pic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38B76305-BD14-668A-D457-5A2D0E11BC78}"/>
                </a:ext>
              </a:extLst>
            </p:cNvPr>
            <p:cNvSpPr txBox="1"/>
            <p:nvPr/>
          </p:nvSpPr>
          <p:spPr>
            <a:xfrm>
              <a:off x="1885132" y="3512753"/>
              <a:ext cx="309380" cy="2908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altLang="zh-TW" sz="21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N3</a:t>
              </a:r>
              <a:endParaRPr lang="zh-TW" altLang="en-US" sz="21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85526E23-2742-A71C-5B87-D9D784CF65EA}"/>
                </a:ext>
              </a:extLst>
            </p:cNvPr>
            <p:cNvSpPr txBox="1"/>
            <p:nvPr/>
          </p:nvSpPr>
          <p:spPr>
            <a:xfrm>
              <a:off x="3599700" y="3512752"/>
              <a:ext cx="309380" cy="2908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altLang="zh-TW" sz="21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N4</a:t>
              </a:r>
              <a:endParaRPr lang="zh-TW" altLang="en-US" sz="21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94CBB1EF-CB89-4326-5711-EA7B61BE2964}"/>
                </a:ext>
              </a:extLst>
            </p:cNvPr>
            <p:cNvSpPr txBox="1"/>
            <p:nvPr/>
          </p:nvSpPr>
          <p:spPr>
            <a:xfrm>
              <a:off x="2033354" y="3803601"/>
              <a:ext cx="309380" cy="2908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altLang="zh-TW" sz="21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N1</a:t>
              </a:r>
              <a:endParaRPr lang="zh-TW" altLang="en-US" sz="21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8AA0E70F-F96C-4EDF-E424-2E0E505E1994}"/>
                </a:ext>
              </a:extLst>
            </p:cNvPr>
            <p:cNvSpPr txBox="1"/>
            <p:nvPr/>
          </p:nvSpPr>
          <p:spPr>
            <a:xfrm>
              <a:off x="3451478" y="3782595"/>
              <a:ext cx="309380" cy="2908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altLang="zh-TW" sz="21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N2</a:t>
              </a:r>
              <a:endParaRPr lang="zh-TW" altLang="en-US" sz="21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BA87AEE6-16A8-0492-65C4-1BF9A245B369}"/>
                </a:ext>
              </a:extLst>
            </p:cNvPr>
            <p:cNvSpPr txBox="1"/>
            <p:nvPr/>
          </p:nvSpPr>
          <p:spPr>
            <a:xfrm>
              <a:off x="2130810" y="3084100"/>
              <a:ext cx="275717" cy="2908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altLang="zh-TW" sz="2100" dirty="0">
                  <a:solidFill>
                    <a:schemeClr val="tx2"/>
                  </a:solidFill>
                  <a:latin typeface="+mn-lt"/>
                  <a:ea typeface="+mn-ea"/>
                </a:rPr>
                <a:t>P</a:t>
              </a:r>
              <a:r>
                <a:rPr lang="en-US" altLang="zh-TW" sz="21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TW" altLang="en-US" sz="21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47CD9891-A322-35CC-A3DA-6490DE9AB22D}"/>
                </a:ext>
              </a:extLst>
            </p:cNvPr>
            <p:cNvSpPr txBox="1"/>
            <p:nvPr/>
          </p:nvSpPr>
          <p:spPr>
            <a:xfrm>
              <a:off x="3360787" y="3118580"/>
              <a:ext cx="275717" cy="2908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altLang="zh-TW" sz="2100" dirty="0">
                  <a:solidFill>
                    <a:schemeClr val="tx2"/>
                  </a:solidFill>
                  <a:latin typeface="+mn-lt"/>
                  <a:ea typeface="+mn-ea"/>
                </a:rPr>
                <a:t>P2</a:t>
              </a:r>
              <a:endParaRPr lang="zh-TW" altLang="en-US" sz="21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4346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7723B-38E2-EEBC-2395-7612A4639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CB74A97-89C7-3EAF-5FE7-B8A3A8B2B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#3.13 (Cont’d) </a:t>
            </a:r>
            <a:r>
              <a:rPr lang="en-US" altLang="zh-TW" b="1" dirty="0"/>
              <a:t>10%</a:t>
            </a:r>
            <a:br>
              <a:rPr lang="en-US" altLang="zh-TW" dirty="0"/>
            </a:br>
            <a:endParaRPr lang="zh-TW" altLang="en-US" dirty="0"/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7525130A-E92C-E443-8D28-CD6948532DA4}"/>
              </a:ext>
            </a:extLst>
          </p:cNvPr>
          <p:cNvGrpSpPr/>
          <p:nvPr/>
        </p:nvGrpSpPr>
        <p:grpSpPr>
          <a:xfrm>
            <a:off x="365564" y="2268580"/>
            <a:ext cx="3459381" cy="2140973"/>
            <a:chOff x="900833" y="2259056"/>
            <a:chExt cx="3459381" cy="2140973"/>
          </a:xfrm>
        </p:grpSpPr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D91775BE-58D1-79D7-0C75-D2D36CD19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900833" y="2259056"/>
              <a:ext cx="3459381" cy="2140973"/>
            </a:xfrm>
            <a:prstGeom prst="rect">
              <a:avLst/>
            </a:prstGeom>
          </p:spPr>
        </p:pic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6BFC9DC4-44FE-97A7-2966-41786B03C16B}"/>
                </a:ext>
              </a:extLst>
            </p:cNvPr>
            <p:cNvSpPr txBox="1"/>
            <p:nvPr/>
          </p:nvSpPr>
          <p:spPr>
            <a:xfrm>
              <a:off x="1885132" y="3512753"/>
              <a:ext cx="309380" cy="2908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altLang="zh-TW" sz="21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N3</a:t>
              </a:r>
              <a:endParaRPr lang="zh-TW" altLang="en-US" sz="21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E88BF050-8D5E-27AD-569E-D63E218E8973}"/>
                </a:ext>
              </a:extLst>
            </p:cNvPr>
            <p:cNvSpPr txBox="1"/>
            <p:nvPr/>
          </p:nvSpPr>
          <p:spPr>
            <a:xfrm>
              <a:off x="3599700" y="3512752"/>
              <a:ext cx="309380" cy="2908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altLang="zh-TW" sz="21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N4</a:t>
              </a:r>
              <a:endParaRPr lang="zh-TW" altLang="en-US" sz="21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3B4F3CC5-570A-C6FB-B86C-7D942F9F0FA4}"/>
                </a:ext>
              </a:extLst>
            </p:cNvPr>
            <p:cNvSpPr txBox="1"/>
            <p:nvPr/>
          </p:nvSpPr>
          <p:spPr>
            <a:xfrm>
              <a:off x="2033354" y="3803601"/>
              <a:ext cx="309380" cy="2908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altLang="zh-TW" sz="21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N1</a:t>
              </a:r>
              <a:endParaRPr lang="zh-TW" altLang="en-US" sz="21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B9BB1EE9-09BF-41EA-A2A3-1BF7ECE0C7B4}"/>
                </a:ext>
              </a:extLst>
            </p:cNvPr>
            <p:cNvSpPr txBox="1"/>
            <p:nvPr/>
          </p:nvSpPr>
          <p:spPr>
            <a:xfrm>
              <a:off x="3451478" y="3782595"/>
              <a:ext cx="309380" cy="2908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altLang="zh-TW" sz="21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N2</a:t>
              </a:r>
              <a:endParaRPr lang="zh-TW" altLang="en-US" sz="21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4D54FDD8-9CE0-1B80-083C-7CC4FA29EDB9}"/>
                </a:ext>
              </a:extLst>
            </p:cNvPr>
            <p:cNvSpPr txBox="1"/>
            <p:nvPr/>
          </p:nvSpPr>
          <p:spPr>
            <a:xfrm>
              <a:off x="2130810" y="3084100"/>
              <a:ext cx="275717" cy="2908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altLang="zh-TW" sz="2100" dirty="0">
                  <a:solidFill>
                    <a:schemeClr val="tx2"/>
                  </a:solidFill>
                  <a:latin typeface="+mn-lt"/>
                  <a:ea typeface="+mn-ea"/>
                </a:rPr>
                <a:t>P</a:t>
              </a:r>
              <a:r>
                <a:rPr lang="en-US" altLang="zh-TW" sz="21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TW" altLang="en-US" sz="21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CF1C10EA-BF34-D57E-FB92-9E8291020E8D}"/>
                </a:ext>
              </a:extLst>
            </p:cNvPr>
            <p:cNvSpPr txBox="1"/>
            <p:nvPr/>
          </p:nvSpPr>
          <p:spPr>
            <a:xfrm>
              <a:off x="3360787" y="3118580"/>
              <a:ext cx="275717" cy="2908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altLang="zh-TW" sz="2100" dirty="0">
                  <a:solidFill>
                    <a:schemeClr val="tx2"/>
                  </a:solidFill>
                  <a:latin typeface="+mn-lt"/>
                  <a:ea typeface="+mn-ea"/>
                </a:rPr>
                <a:t>P2</a:t>
              </a:r>
              <a:endParaRPr lang="zh-TW" altLang="en-US" sz="21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3" name="圖片 2" descr="一張含有 圖表, 螢幕擷取畫面, 行, 方案 的圖片&#10;&#10;AI 產生的內容可能不正確。">
            <a:extLst>
              <a:ext uri="{FF2B5EF4-FFF2-40B4-BE49-F238E27FC236}">
                <a16:creationId xmlns:a16="http://schemas.microsoft.com/office/drawing/2014/main" id="{51DF0FC6-119D-4285-9BDC-658C88001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429" y="1853150"/>
            <a:ext cx="7734357" cy="275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064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704C25-CD47-2FD4-13BC-D0819A6F8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Assignment #3.2 </a:t>
            </a:r>
            <a:r>
              <a:rPr lang="en-US" altLang="zh-TW" b="1" dirty="0"/>
              <a:t>20%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F4B26C-42C0-609D-3376-6EB56CB0F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Implement a 14-bit carry select adder with Verilog</a:t>
            </a:r>
          </a:p>
          <a:p>
            <a:r>
              <a:rPr lang="en-US" altLang="zh-TW" dirty="0"/>
              <a:t>Module</a:t>
            </a:r>
            <a:r>
              <a:rPr lang="zh-TW" altLang="en-US" dirty="0"/>
              <a:t> </a:t>
            </a:r>
            <a:r>
              <a:rPr lang="en-US" altLang="zh-TW" dirty="0"/>
              <a:t>name:  </a:t>
            </a:r>
          </a:p>
          <a:p>
            <a:pPr marL="329883" lvl="1" indent="0">
              <a:buNone/>
            </a:pP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module </a:t>
            </a:r>
            <a:r>
              <a:rPr lang="en-US" altLang="zh-TW" b="1" dirty="0">
                <a:solidFill>
                  <a:schemeClr val="tx1"/>
                </a:solidFill>
                <a:highlight>
                  <a:srgbClr val="FFFF00"/>
                </a:highlight>
              </a:rPr>
              <a:t>CSA_14 </a:t>
            </a: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(</a:t>
            </a:r>
          </a:p>
          <a:p>
            <a:pPr marL="329883" lvl="1" indent="0">
              <a:buNone/>
            </a:pP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	output  logic [13:0] </a:t>
            </a:r>
            <a:r>
              <a:rPr lang="en-US" altLang="zh-TW" dirty="0" err="1">
                <a:solidFill>
                  <a:schemeClr val="tx1"/>
                </a:solidFill>
                <a:highlight>
                  <a:srgbClr val="FFFF00"/>
                </a:highlight>
              </a:rPr>
              <a:t>s_o</a:t>
            </a: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, </a:t>
            </a:r>
          </a:p>
          <a:p>
            <a:pPr marL="329883" lvl="1" indent="0">
              <a:buNone/>
            </a:pP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	output  logic  	   </a:t>
            </a:r>
            <a:r>
              <a:rPr lang="en-US" altLang="zh-TW" dirty="0" err="1">
                <a:solidFill>
                  <a:schemeClr val="tx1"/>
                </a:solidFill>
                <a:highlight>
                  <a:srgbClr val="FFFF00"/>
                </a:highlight>
              </a:rPr>
              <a:t>c_o</a:t>
            </a: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,</a:t>
            </a:r>
          </a:p>
          <a:p>
            <a:pPr marL="329883" lvl="1" indent="0">
              <a:buNone/>
            </a:pP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  	input   logic [13:0] </a:t>
            </a:r>
            <a:r>
              <a:rPr lang="en-US" altLang="zh-TW" dirty="0" err="1">
                <a:solidFill>
                  <a:schemeClr val="tx1"/>
                </a:solidFill>
                <a:highlight>
                  <a:srgbClr val="FFFF00"/>
                </a:highlight>
              </a:rPr>
              <a:t>a_i</a:t>
            </a: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,</a:t>
            </a:r>
          </a:p>
          <a:p>
            <a:pPr marL="329883" lvl="1" indent="0">
              <a:buNone/>
            </a:pP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  	input   logic [13:0] </a:t>
            </a:r>
            <a:r>
              <a:rPr lang="en-US" altLang="zh-TW" dirty="0" err="1">
                <a:solidFill>
                  <a:schemeClr val="tx1"/>
                </a:solidFill>
                <a:highlight>
                  <a:srgbClr val="FFFF00"/>
                </a:highlight>
              </a:rPr>
              <a:t>b_i</a:t>
            </a: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,</a:t>
            </a:r>
          </a:p>
          <a:p>
            <a:pPr marL="329883" lvl="1" indent="0">
              <a:buNone/>
            </a:pP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  	input   logic	  </a:t>
            </a:r>
            <a:r>
              <a:rPr lang="en-US" altLang="zh-TW" dirty="0" err="1">
                <a:solidFill>
                  <a:schemeClr val="tx1"/>
                </a:solidFill>
                <a:highlight>
                  <a:srgbClr val="FFFF00"/>
                </a:highlight>
              </a:rPr>
              <a:t>c_i</a:t>
            </a:r>
            <a:endParaRPr lang="en-US" altLang="zh-TW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329883" lvl="1" indent="0">
              <a:buNone/>
            </a:pP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);</a:t>
            </a:r>
          </a:p>
        </p:txBody>
      </p:sp>
      <p:pic>
        <p:nvPicPr>
          <p:cNvPr id="5" name="圖片 4" descr="一張含有 文字, 圖表, 方案, 字型 的圖片&#10;&#10;AI 產生的內容可能不正確。">
            <a:extLst>
              <a:ext uri="{FF2B5EF4-FFF2-40B4-BE49-F238E27FC236}">
                <a16:creationId xmlns:a16="http://schemas.microsoft.com/office/drawing/2014/main" id="{C5607F5B-A933-A3E2-3007-5DB2CB8A5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476" y="1822148"/>
            <a:ext cx="6567536" cy="438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86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E9A02-953A-ECE5-E7BA-C06B7789E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C7FFD7-0959-DC40-3B68-EAA320F73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Assignment #3.3 </a:t>
            </a:r>
            <a:r>
              <a:rPr lang="en-US" altLang="zh-TW" b="1" dirty="0"/>
              <a:t>25%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262950-11B1-8FC4-BBF2-4E99F6995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Implement a 16-bit Brent-Kung tree adder with Verilog</a:t>
            </a:r>
          </a:p>
          <a:p>
            <a:r>
              <a:rPr lang="en-US" altLang="zh-TW" dirty="0"/>
              <a:t>Module</a:t>
            </a:r>
            <a:r>
              <a:rPr lang="zh-TW" altLang="en-US" dirty="0"/>
              <a:t> </a:t>
            </a:r>
            <a:r>
              <a:rPr lang="en-US" altLang="zh-TW" dirty="0"/>
              <a:t>name:  </a:t>
            </a:r>
          </a:p>
          <a:p>
            <a:pPr marL="329883" lvl="1" indent="0">
              <a:buNone/>
            </a:pP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module </a:t>
            </a:r>
            <a:r>
              <a:rPr lang="en-US" altLang="zh-TW" b="1" dirty="0">
                <a:solidFill>
                  <a:schemeClr val="tx1"/>
                </a:solidFill>
                <a:highlight>
                  <a:srgbClr val="FFFF00"/>
                </a:highlight>
              </a:rPr>
              <a:t>BKT_16</a:t>
            </a: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 (</a:t>
            </a:r>
          </a:p>
          <a:p>
            <a:pPr marL="329883" lvl="1" indent="0">
              <a:buNone/>
            </a:pP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	output  logic [15:0] </a:t>
            </a:r>
            <a:r>
              <a:rPr lang="en-US" altLang="zh-TW" dirty="0" err="1">
                <a:solidFill>
                  <a:schemeClr val="tx1"/>
                </a:solidFill>
                <a:highlight>
                  <a:srgbClr val="FFFF00"/>
                </a:highlight>
              </a:rPr>
              <a:t>s_o</a:t>
            </a: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, </a:t>
            </a:r>
          </a:p>
          <a:p>
            <a:pPr marL="329883" lvl="1" indent="0">
              <a:buNone/>
            </a:pP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	output  logic  	   </a:t>
            </a:r>
            <a:r>
              <a:rPr lang="en-US" altLang="zh-TW" dirty="0" err="1">
                <a:solidFill>
                  <a:schemeClr val="tx1"/>
                </a:solidFill>
                <a:highlight>
                  <a:srgbClr val="FFFF00"/>
                </a:highlight>
              </a:rPr>
              <a:t>c_o</a:t>
            </a: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,</a:t>
            </a:r>
          </a:p>
          <a:p>
            <a:pPr marL="329883" lvl="1" indent="0">
              <a:buNone/>
            </a:pP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  	input   logic [15:0] </a:t>
            </a:r>
            <a:r>
              <a:rPr lang="en-US" altLang="zh-TW" dirty="0" err="1">
                <a:solidFill>
                  <a:schemeClr val="tx1"/>
                </a:solidFill>
                <a:highlight>
                  <a:srgbClr val="FFFF00"/>
                </a:highlight>
              </a:rPr>
              <a:t>a_i</a:t>
            </a: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,</a:t>
            </a:r>
          </a:p>
          <a:p>
            <a:pPr marL="329883" lvl="1" indent="0">
              <a:buNone/>
            </a:pP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  	input   logic [15:0] </a:t>
            </a:r>
            <a:r>
              <a:rPr lang="en-US" altLang="zh-TW" dirty="0" err="1">
                <a:solidFill>
                  <a:schemeClr val="tx1"/>
                </a:solidFill>
                <a:highlight>
                  <a:srgbClr val="FFFF00"/>
                </a:highlight>
              </a:rPr>
              <a:t>b_i</a:t>
            </a:r>
            <a:endParaRPr lang="en-US" altLang="zh-TW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329883" lvl="1" indent="0">
              <a:buNone/>
            </a:pP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);</a:t>
            </a:r>
          </a:p>
          <a:p>
            <a:pPr marL="0" indent="0">
              <a:buNone/>
            </a:pPr>
            <a:endParaRPr lang="zh-TW" altLang="en-US" dirty="0">
              <a:solidFill>
                <a:srgbClr val="FF0000"/>
              </a:solidFill>
            </a:endParaRP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E005BAC-7CA9-6701-4B83-1202AA76C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698" y="1981200"/>
            <a:ext cx="64389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223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A30ED-EEB5-4597-DF62-F1DD724D9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B9BED6-0679-402B-A598-F4B29ED20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Assignment #3.4 </a:t>
            </a:r>
            <a:r>
              <a:rPr lang="en-US" altLang="zh-TW" b="1" dirty="0"/>
              <a:t>25%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0215A4-C4FF-A3AF-C0F1-4873FE6F4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Implement a 9-bit by 7-bit Wallace tree multiplier</a:t>
            </a:r>
            <a:r>
              <a:rPr lang="zh-TW" altLang="en-US" dirty="0"/>
              <a:t> </a:t>
            </a:r>
            <a:r>
              <a:rPr lang="en-US" altLang="zh-TW" dirty="0"/>
              <a:t>with Verilog and please use the implementation of assignment #3.3 (brent-kung tree adder)</a:t>
            </a:r>
            <a:r>
              <a:rPr lang="zh-TW" altLang="en-US" dirty="0"/>
              <a:t> </a:t>
            </a:r>
            <a:r>
              <a:rPr lang="en-US" altLang="zh-TW" dirty="0"/>
              <a:t>as the last stage CLA</a:t>
            </a:r>
          </a:p>
          <a:p>
            <a:r>
              <a:rPr lang="en-US" altLang="zh-TW" dirty="0"/>
              <a:t>Module</a:t>
            </a:r>
            <a:r>
              <a:rPr lang="zh-TW" altLang="en-US" dirty="0"/>
              <a:t> </a:t>
            </a:r>
            <a:r>
              <a:rPr lang="en-US" altLang="zh-TW" dirty="0"/>
              <a:t>name:  </a:t>
            </a:r>
          </a:p>
          <a:p>
            <a:pPr marL="329883" lvl="1" indent="0">
              <a:buNone/>
            </a:pP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module </a:t>
            </a:r>
            <a:r>
              <a:rPr lang="en-US" altLang="zh-TW" b="1" dirty="0">
                <a:solidFill>
                  <a:schemeClr val="tx1"/>
                </a:solidFill>
                <a:highlight>
                  <a:srgbClr val="FFFF00"/>
                </a:highlight>
              </a:rPr>
              <a:t>Wallace_Tree_9X7 </a:t>
            </a: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(</a:t>
            </a:r>
          </a:p>
          <a:p>
            <a:pPr marL="329883" lvl="1" indent="0">
              <a:buNone/>
            </a:pP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	output  logic [15:0] out, </a:t>
            </a:r>
          </a:p>
          <a:p>
            <a:pPr marL="329883" lvl="1" indent="0">
              <a:buNone/>
            </a:pP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	input   logic [ 8:0] </a:t>
            </a:r>
            <a:r>
              <a:rPr lang="en-US" altLang="zh-TW" dirty="0" err="1">
                <a:solidFill>
                  <a:schemeClr val="tx1"/>
                </a:solidFill>
                <a:highlight>
                  <a:srgbClr val="FFFF00"/>
                </a:highlight>
              </a:rPr>
              <a:t>a_i</a:t>
            </a: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,</a:t>
            </a:r>
          </a:p>
          <a:p>
            <a:pPr marL="329883" lvl="1" indent="0">
              <a:buNone/>
            </a:pP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  	input   logic [ 6:0] </a:t>
            </a:r>
            <a:r>
              <a:rPr lang="en-US" altLang="zh-TW" dirty="0" err="1">
                <a:solidFill>
                  <a:schemeClr val="tx1"/>
                </a:solidFill>
                <a:highlight>
                  <a:srgbClr val="FFFF00"/>
                </a:highlight>
              </a:rPr>
              <a:t>b_i</a:t>
            </a:r>
            <a:endParaRPr lang="en-US" altLang="zh-TW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329883" lvl="1" indent="0">
              <a:buNone/>
            </a:pPr>
            <a:r>
              <a:rPr lang="en-US" altLang="zh-TW" dirty="0">
                <a:solidFill>
                  <a:schemeClr val="tx1"/>
                </a:solidFill>
                <a:highlight>
                  <a:srgbClr val="FFFF00"/>
                </a:highlight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988973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E083FD-BE46-D119-3ADB-75731111A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BDAC56-8113-4C25-4325-348C66499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EDA playground</a:t>
            </a:r>
            <a:r>
              <a:rPr lang="en-US" altLang="zh-TW" dirty="0"/>
              <a:t> Examples</a:t>
            </a:r>
          </a:p>
          <a:p>
            <a:pPr lvl="1"/>
            <a:r>
              <a:rPr lang="en-US" altLang="zh-TW" dirty="0">
                <a:hlinkClick r:id="rId3"/>
              </a:rPr>
              <a:t>Ripple carry adder</a:t>
            </a:r>
            <a:r>
              <a:rPr lang="zh-TW" altLang="en-US" dirty="0"/>
              <a:t> </a:t>
            </a:r>
            <a:r>
              <a:rPr lang="en-US" altLang="zh-TW" dirty="0"/>
              <a:t>(https://edaplayground.com/x/YrzV)</a:t>
            </a:r>
          </a:p>
          <a:p>
            <a:pPr lvl="1"/>
            <a:r>
              <a:rPr lang="en-US" altLang="zh-TW" dirty="0">
                <a:hlinkClick r:id="rId4"/>
              </a:rPr>
              <a:t>Carry select adder</a:t>
            </a:r>
            <a:r>
              <a:rPr lang="zh-TW" altLang="en-US" dirty="0"/>
              <a:t> </a:t>
            </a:r>
            <a:r>
              <a:rPr lang="en-US" altLang="zh-TW" dirty="0"/>
              <a:t>(https://edaplayground.com/x/AtHz)</a:t>
            </a:r>
          </a:p>
          <a:p>
            <a:pPr lvl="1"/>
            <a:r>
              <a:rPr lang="en-US" altLang="zh-TW" dirty="0">
                <a:hlinkClick r:id="rId5"/>
              </a:rPr>
              <a:t>4x4 Wallace-tree </a:t>
            </a:r>
            <a:r>
              <a:rPr lang="en-US" altLang="zh-TW">
                <a:hlinkClick r:id="rId5"/>
              </a:rPr>
              <a:t>multiplier </a:t>
            </a:r>
            <a:r>
              <a:rPr lang="en-US" altLang="zh-TW"/>
              <a:t>(https://edaplayground.com/x/WkNg)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9235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C0E46E-EA59-9D73-77DA-01573D631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E86FB7-6809-7CA6-EFA9-0D0C0971B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EDA playground UI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820C40D-F4A7-9199-45EA-769B8F3C3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57118"/>
            <a:ext cx="9144000" cy="4953000"/>
          </a:xfrm>
          <a:prstGeom prst="rect">
            <a:avLst/>
          </a:prstGeom>
        </p:spPr>
      </p:pic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BE4EEE8C-629B-522C-E69B-984D9EF83ED5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4162425" y="1370639"/>
            <a:ext cx="461945" cy="163926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A6A69489-055C-94A3-90EB-FF829C8AE008}"/>
              </a:ext>
            </a:extLst>
          </p:cNvPr>
          <p:cNvSpPr txBox="1"/>
          <p:nvPr/>
        </p:nvSpPr>
        <p:spPr>
          <a:xfrm>
            <a:off x="3605212" y="1079790"/>
            <a:ext cx="2038315" cy="2908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TW" sz="21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Testbench window</a:t>
            </a:r>
            <a:endParaRPr lang="zh-TW" altLang="en-US" sz="2100" kern="1200" dirty="0" err="1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EA321CA-9E08-C3C7-480C-5EBC6FB739D7}"/>
              </a:ext>
            </a:extLst>
          </p:cNvPr>
          <p:cNvSpPr txBox="1"/>
          <p:nvPr/>
        </p:nvSpPr>
        <p:spPr>
          <a:xfrm>
            <a:off x="7686710" y="1065022"/>
            <a:ext cx="1667701" cy="2908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TW" sz="21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Design window</a:t>
            </a:r>
            <a:endParaRPr lang="zh-TW" altLang="en-US" sz="2100" kern="1200" dirty="0" err="1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5CE8DC12-D7F9-1622-A0FD-822F5E67D043}"/>
              </a:ext>
            </a:extLst>
          </p:cNvPr>
          <p:cNvCxnSpPr>
            <a:cxnSpLocks/>
          </p:cNvCxnSpPr>
          <p:nvPr/>
        </p:nvCxnSpPr>
        <p:spPr>
          <a:xfrm flipH="1">
            <a:off x="7900977" y="1313489"/>
            <a:ext cx="461945" cy="163926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D49E8BDB-3F0D-472C-EE51-6E2C1371932E}"/>
              </a:ext>
            </a:extLst>
          </p:cNvPr>
          <p:cNvCxnSpPr>
            <a:cxnSpLocks/>
          </p:cNvCxnSpPr>
          <p:nvPr/>
        </p:nvCxnSpPr>
        <p:spPr>
          <a:xfrm>
            <a:off x="1185894" y="3086100"/>
            <a:ext cx="400019" cy="46196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24C4179-FC06-BBCE-2CDE-05E35B3A4640}"/>
              </a:ext>
            </a:extLst>
          </p:cNvPr>
          <p:cNvSpPr txBox="1"/>
          <p:nvPr/>
        </p:nvSpPr>
        <p:spPr>
          <a:xfrm>
            <a:off x="349603" y="2432220"/>
            <a:ext cx="1115370" cy="6586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TW" sz="21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Simulator </a:t>
            </a:r>
          </a:p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TW" sz="21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selection</a:t>
            </a:r>
            <a:endParaRPr lang="zh-TW" altLang="en-US" sz="2100" kern="1200" dirty="0" err="1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93264A04-A97C-2783-B735-92209E5D6606}"/>
              </a:ext>
            </a:extLst>
          </p:cNvPr>
          <p:cNvCxnSpPr>
            <a:cxnSpLocks/>
          </p:cNvCxnSpPr>
          <p:nvPr/>
        </p:nvCxnSpPr>
        <p:spPr>
          <a:xfrm flipV="1">
            <a:off x="1164210" y="4258511"/>
            <a:ext cx="443385" cy="52266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0010A62-622A-EE6C-6300-85703C35F2A3}"/>
              </a:ext>
            </a:extLst>
          </p:cNvPr>
          <p:cNvSpPr txBox="1"/>
          <p:nvPr/>
        </p:nvSpPr>
        <p:spPr>
          <a:xfrm>
            <a:off x="182916" y="4469604"/>
            <a:ext cx="1092735" cy="10264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TW" sz="21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Enable</a:t>
            </a:r>
          </a:p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TW" sz="2100" dirty="0">
                <a:solidFill>
                  <a:srgbClr val="FF0000"/>
                </a:solidFill>
                <a:latin typeface="+mn-lt"/>
                <a:ea typeface="+mn-ea"/>
              </a:rPr>
              <a:t>waveform</a:t>
            </a:r>
          </a:p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TW" sz="21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viewer</a:t>
            </a:r>
            <a:endParaRPr lang="zh-TW" altLang="en-US" sz="2100" kern="1200" dirty="0" err="1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271AD3AC-60FE-FAAF-E70B-58EADC44B51E}"/>
              </a:ext>
            </a:extLst>
          </p:cNvPr>
          <p:cNvCxnSpPr>
            <a:cxnSpLocks/>
          </p:cNvCxnSpPr>
          <p:nvPr/>
        </p:nvCxnSpPr>
        <p:spPr>
          <a:xfrm>
            <a:off x="3170936" y="895350"/>
            <a:ext cx="0" cy="152494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B0AB6E2E-E20E-688E-6EB2-5B0C0DA59B98}"/>
              </a:ext>
            </a:extLst>
          </p:cNvPr>
          <p:cNvSpPr txBox="1"/>
          <p:nvPr/>
        </p:nvSpPr>
        <p:spPr>
          <a:xfrm>
            <a:off x="2481290" y="641559"/>
            <a:ext cx="1637371" cy="2908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TW" sz="21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Run simulation</a:t>
            </a:r>
            <a:endParaRPr lang="zh-TW" altLang="en-US" sz="2100" kern="1200" dirty="0" err="1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374BB8D3-9DD4-51AD-637F-DC5BCEF50F09}"/>
              </a:ext>
            </a:extLst>
          </p:cNvPr>
          <p:cNvCxnSpPr>
            <a:cxnSpLocks/>
          </p:cNvCxnSpPr>
          <p:nvPr/>
        </p:nvCxnSpPr>
        <p:spPr>
          <a:xfrm flipH="1">
            <a:off x="3571324" y="895350"/>
            <a:ext cx="822073" cy="143456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1717D56-1B05-90FC-990A-F8E769AF4F9F}"/>
              </a:ext>
            </a:extLst>
          </p:cNvPr>
          <p:cNvSpPr txBox="1"/>
          <p:nvPr/>
        </p:nvSpPr>
        <p:spPr>
          <a:xfrm>
            <a:off x="4307272" y="564400"/>
            <a:ext cx="1273682" cy="2908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TW" sz="21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Save design</a:t>
            </a:r>
            <a:endParaRPr lang="zh-TW" altLang="en-US" sz="2100" kern="1200" dirty="0" err="1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8179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B8A3B-44A9-234C-82AF-336B795B2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D06503-7E14-275D-03E5-8F0EB9C9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CBFAC4-76CA-0F49-7BD2-5B12AED63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Waveform viewer</a:t>
            </a:r>
            <a:endParaRPr lang="zh-TW" altLang="en-US" dirty="0"/>
          </a:p>
        </p:txBody>
      </p:sp>
      <p:pic>
        <p:nvPicPr>
          <p:cNvPr id="6" name="圖片 5" descr="一張含有 文字, 軟體, 行, 多媒體軟體 的圖片&#10;&#10;AI 產生的內容可能不正確。">
            <a:extLst>
              <a:ext uri="{FF2B5EF4-FFF2-40B4-BE49-F238E27FC236}">
                <a16:creationId xmlns:a16="http://schemas.microsoft.com/office/drawing/2014/main" id="{F391FE39-4459-E59F-B255-9E3AECED8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9565"/>
            <a:ext cx="12192000" cy="258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59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DBFA00-A7D3-F9FC-DAF5-C416939DB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9136F2-8E61-96D9-F339-A45331D3D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950" y="875836"/>
            <a:ext cx="5445125" cy="6034552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`timescale 1ns/1ns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b="1" dirty="0"/>
              <a:t>module</a:t>
            </a:r>
            <a:r>
              <a:rPr lang="en-US" altLang="zh-TW" sz="1400" dirty="0"/>
              <a:t> test;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logic [3:0]  </a:t>
            </a:r>
            <a:r>
              <a:rPr lang="en-US" altLang="zh-TW" sz="1400" dirty="0" err="1"/>
              <a:t>in_a</a:t>
            </a:r>
            <a:r>
              <a:rPr lang="en-US" altLang="zh-TW" sz="14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logic [3:0]  </a:t>
            </a:r>
            <a:r>
              <a:rPr lang="en-US" altLang="zh-TW" sz="1400" dirty="0" err="1"/>
              <a:t>in_b</a:t>
            </a:r>
            <a:r>
              <a:rPr lang="en-US" altLang="zh-TW" sz="14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logic [7:0] </a:t>
            </a:r>
            <a:r>
              <a:rPr lang="en-US" altLang="zh-TW" sz="1400" dirty="0" err="1"/>
              <a:t>out_c</a:t>
            </a:r>
            <a:r>
              <a:rPr lang="en-US" altLang="zh-TW" sz="14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logic [7:0] </a:t>
            </a:r>
            <a:r>
              <a:rPr lang="en-US" altLang="zh-TW" sz="1400" dirty="0" err="1"/>
              <a:t>expect_c</a:t>
            </a:r>
            <a:r>
              <a:rPr lang="en-US" altLang="zh-TW" sz="14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wallace_4x4 u0 (</a:t>
            </a:r>
            <a:r>
              <a:rPr lang="en-US" altLang="zh-TW" sz="1400" dirty="0" err="1"/>
              <a:t>out_c</a:t>
            </a:r>
            <a:r>
              <a:rPr lang="en-US" altLang="zh-TW" sz="1400" dirty="0"/>
              <a:t>, </a:t>
            </a:r>
            <a:r>
              <a:rPr lang="en-US" altLang="zh-TW" sz="1400" dirty="0" err="1"/>
              <a:t>in_a</a:t>
            </a:r>
            <a:r>
              <a:rPr lang="en-US" altLang="zh-TW" sz="1400" dirty="0"/>
              <a:t>, </a:t>
            </a:r>
            <a:r>
              <a:rPr lang="en-US" altLang="zh-TW" sz="1400" dirty="0" err="1"/>
              <a:t>in_b</a:t>
            </a:r>
            <a:r>
              <a:rPr lang="en-US" altLang="zh-TW" sz="1400" dirty="0"/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assign </a:t>
            </a:r>
            <a:r>
              <a:rPr lang="en-US" altLang="zh-TW" sz="1400" dirty="0" err="1"/>
              <a:t>expect_c</a:t>
            </a:r>
            <a:r>
              <a:rPr lang="en-US" altLang="zh-TW" sz="1400" dirty="0"/>
              <a:t> = </a:t>
            </a:r>
            <a:r>
              <a:rPr lang="en-US" altLang="zh-TW" sz="1400" dirty="0" err="1"/>
              <a:t>in_a</a:t>
            </a:r>
            <a:r>
              <a:rPr lang="en-US" altLang="zh-TW" sz="1400" dirty="0"/>
              <a:t> * </a:t>
            </a:r>
            <a:r>
              <a:rPr lang="en-US" altLang="zh-TW" sz="1400" dirty="0" err="1"/>
              <a:t>in_b</a:t>
            </a:r>
            <a:r>
              <a:rPr lang="en-US" altLang="zh-TW" sz="1400" dirty="0"/>
              <a:t>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integer </a:t>
            </a:r>
            <a:r>
              <a:rPr lang="en-US" altLang="zh-TW" sz="1400" dirty="0" err="1"/>
              <a:t>i</a:t>
            </a:r>
            <a:r>
              <a:rPr lang="en-US" altLang="zh-TW" sz="14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initial begin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  $</a:t>
            </a:r>
            <a:r>
              <a:rPr lang="en-US" altLang="zh-TW" sz="1400" dirty="0" err="1"/>
              <a:t>dumpfile</a:t>
            </a:r>
            <a:r>
              <a:rPr lang="en-US" altLang="zh-TW" sz="1400" dirty="0"/>
              <a:t>("</a:t>
            </a:r>
            <a:r>
              <a:rPr lang="en-US" altLang="zh-TW" sz="1400" dirty="0" err="1"/>
              <a:t>dump.vcd</a:t>
            </a:r>
            <a:r>
              <a:rPr lang="en-US" altLang="zh-TW" sz="1400" dirty="0"/>
              <a:t>");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  $</a:t>
            </a:r>
            <a:r>
              <a:rPr lang="en-US" altLang="zh-TW" sz="1400" dirty="0" err="1"/>
              <a:t>dumpvars</a:t>
            </a:r>
            <a:r>
              <a:rPr lang="en-US" altLang="zh-TW" sz="1400" dirty="0"/>
              <a:t>(1,test);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  </a:t>
            </a:r>
            <a:r>
              <a:rPr lang="en-US" altLang="zh-TW" sz="1400" dirty="0" err="1"/>
              <a:t>in_a</a:t>
            </a:r>
            <a:r>
              <a:rPr lang="en-US" altLang="zh-TW" sz="1400" dirty="0"/>
              <a:t> = 0; </a:t>
            </a:r>
            <a:r>
              <a:rPr lang="en-US" altLang="zh-TW" sz="1400" dirty="0" err="1"/>
              <a:t>in_b</a:t>
            </a:r>
            <a:r>
              <a:rPr lang="en-US" altLang="zh-TW" sz="1400" dirty="0"/>
              <a:t>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  for (</a:t>
            </a:r>
            <a:r>
              <a:rPr lang="en-US" altLang="zh-TW" sz="1400" dirty="0" err="1"/>
              <a:t>i</a:t>
            </a:r>
            <a:r>
              <a:rPr lang="en-US" altLang="zh-TW" sz="1400" dirty="0"/>
              <a:t>=0; </a:t>
            </a:r>
            <a:r>
              <a:rPr lang="en-US" altLang="zh-TW" sz="1400" dirty="0" err="1"/>
              <a:t>i</a:t>
            </a:r>
            <a:r>
              <a:rPr lang="en-US" altLang="zh-TW" sz="1400" dirty="0"/>
              <a:t>&lt;10; </a:t>
            </a:r>
            <a:r>
              <a:rPr lang="en-US" altLang="zh-TW" sz="1400" dirty="0" err="1"/>
              <a:t>i</a:t>
            </a:r>
            <a:r>
              <a:rPr lang="en-US" altLang="zh-TW" sz="1400" dirty="0"/>
              <a:t>=i+1) begin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    </a:t>
            </a:r>
            <a:r>
              <a:rPr lang="en-US" altLang="zh-TW" sz="1400" dirty="0" err="1"/>
              <a:t>in_a</a:t>
            </a:r>
            <a:r>
              <a:rPr lang="en-US" altLang="zh-TW" sz="1400" dirty="0"/>
              <a:t> = $random%16; </a:t>
            </a:r>
            <a:r>
              <a:rPr lang="en-US" altLang="zh-TW" sz="1400" dirty="0" err="1"/>
              <a:t>in_b</a:t>
            </a:r>
            <a:r>
              <a:rPr lang="en-US" altLang="zh-TW" sz="1400" dirty="0"/>
              <a:t> = $random%16;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    # 50;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    assert(</a:t>
            </a:r>
            <a:r>
              <a:rPr lang="en-US" altLang="zh-TW" sz="1400" dirty="0" err="1"/>
              <a:t>out_c</a:t>
            </a:r>
            <a:r>
              <a:rPr lang="en-US" altLang="zh-TW" sz="1400" dirty="0"/>
              <a:t>==</a:t>
            </a:r>
            <a:r>
              <a:rPr lang="en-US" altLang="zh-TW" sz="1400" dirty="0" err="1"/>
              <a:t>expect_c</a:t>
            </a:r>
            <a:r>
              <a:rPr lang="en-US" altLang="zh-TW" sz="1400" dirty="0"/>
              <a:t>) else begin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       $error("[FAIL] Output %d != Expect %d", </a:t>
            </a:r>
            <a:r>
              <a:rPr lang="en-US" altLang="zh-TW" sz="1400" dirty="0" err="1"/>
              <a:t>out_c</a:t>
            </a:r>
            <a:r>
              <a:rPr lang="en-US" altLang="zh-TW" sz="1400" dirty="0"/>
              <a:t>, </a:t>
            </a:r>
            <a:r>
              <a:rPr lang="en-US" altLang="zh-TW" sz="1400" dirty="0" err="1"/>
              <a:t>expect_c</a:t>
            </a:r>
            <a:r>
              <a:rPr lang="en-US" altLang="zh-TW" sz="1400" dirty="0"/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       $finish;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    end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  end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  $display("All tests pass");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  $finish;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dirty="0"/>
              <a:t>  end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1400" b="1" dirty="0" err="1"/>
              <a:t>endmodule</a:t>
            </a:r>
            <a:endParaRPr lang="zh-TW" altLang="en-US" sz="4000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839D7D-645E-C476-8AEA-5EE59D37D708}"/>
              </a:ext>
            </a:extLst>
          </p:cNvPr>
          <p:cNvSpPr/>
          <p:nvPr/>
        </p:nvSpPr>
        <p:spPr>
          <a:xfrm>
            <a:off x="6872287" y="1957388"/>
            <a:ext cx="4733925" cy="27813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759065-EDAD-D3F8-E8EE-0BAC5EEC3855}"/>
              </a:ext>
            </a:extLst>
          </p:cNvPr>
          <p:cNvSpPr/>
          <p:nvPr/>
        </p:nvSpPr>
        <p:spPr>
          <a:xfrm>
            <a:off x="8343900" y="3487299"/>
            <a:ext cx="1171575" cy="60845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DUT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52CA85-E062-807F-B2A2-C1825E69AFB9}"/>
              </a:ext>
            </a:extLst>
          </p:cNvPr>
          <p:cNvSpPr/>
          <p:nvPr/>
        </p:nvSpPr>
        <p:spPr>
          <a:xfrm>
            <a:off x="8296275" y="2356695"/>
            <a:ext cx="1171575" cy="60845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Ref.</a:t>
            </a:r>
          </a:p>
          <a:p>
            <a:pPr algn="ctr"/>
            <a:r>
              <a:rPr lang="en-US" altLang="zh-TW" dirty="0"/>
              <a:t>Model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46F93E-0A3F-EADF-BC9D-B36DCC3420D3}"/>
              </a:ext>
            </a:extLst>
          </p:cNvPr>
          <p:cNvSpPr/>
          <p:nvPr/>
        </p:nvSpPr>
        <p:spPr>
          <a:xfrm>
            <a:off x="6967537" y="2939239"/>
            <a:ext cx="1171575" cy="60845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Excitation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BC035A-2A2F-8A9B-83C9-C3828E196736}"/>
              </a:ext>
            </a:extLst>
          </p:cNvPr>
          <p:cNvSpPr/>
          <p:nvPr/>
        </p:nvSpPr>
        <p:spPr>
          <a:xfrm>
            <a:off x="9820275" y="2963828"/>
            <a:ext cx="1462088" cy="47071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Comparison</a:t>
            </a:r>
            <a:endParaRPr lang="zh-TW" altLang="en-US" dirty="0"/>
          </a:p>
        </p:txBody>
      </p: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A9AA8EC1-7B0C-2DCF-CD29-7114856D25BA}"/>
              </a:ext>
            </a:extLst>
          </p:cNvPr>
          <p:cNvCxnSpPr>
            <a:cxnSpLocks/>
            <a:stCxn id="7" idx="0"/>
            <a:endCxn id="6" idx="1"/>
          </p:cNvCxnSpPr>
          <p:nvPr/>
        </p:nvCxnSpPr>
        <p:spPr>
          <a:xfrm rot="5400000" flipH="1" flipV="1">
            <a:off x="7785641" y="2428605"/>
            <a:ext cx="278318" cy="742950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097B0890-C6AF-08D6-574B-06E2BBD7B213}"/>
              </a:ext>
            </a:extLst>
          </p:cNvPr>
          <p:cNvCxnSpPr>
            <a:stCxn id="7" idx="2"/>
            <a:endCxn id="5" idx="1"/>
          </p:cNvCxnSpPr>
          <p:nvPr/>
        </p:nvCxnSpPr>
        <p:spPr>
          <a:xfrm rot="16200000" flipH="1">
            <a:off x="7826695" y="3274320"/>
            <a:ext cx="243834" cy="790575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8459CF64-8195-DDBE-A324-C15E9E9CB302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>
            <a:off x="9467850" y="2660921"/>
            <a:ext cx="1083469" cy="302907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5B03189D-BB5D-FD48-AB06-59D138EE3EBC}"/>
              </a:ext>
            </a:extLst>
          </p:cNvPr>
          <p:cNvCxnSpPr>
            <a:stCxn id="5" idx="3"/>
            <a:endCxn id="8" idx="2"/>
          </p:cNvCxnSpPr>
          <p:nvPr/>
        </p:nvCxnSpPr>
        <p:spPr>
          <a:xfrm flipV="1">
            <a:off x="9515475" y="3434539"/>
            <a:ext cx="1035844" cy="356986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93A0F5F3-5F69-A355-4EF3-C4B52EF8B844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2343149" y="3243465"/>
            <a:ext cx="4624388" cy="930309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35B16505-986B-46E0-7AC2-4E46DB2C9FDE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3540920" y="2497646"/>
            <a:ext cx="4802980" cy="1293879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B28395A1-F1E5-5FA2-FC77-F455995CA597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096818" y="2660921"/>
            <a:ext cx="5199457" cy="249003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DEA3F497-2ED4-1B93-F25F-83FF5A6DAEBA}"/>
              </a:ext>
            </a:extLst>
          </p:cNvPr>
          <p:cNvCxnSpPr>
            <a:cxnSpLocks/>
            <a:endCxn id="48" idx="1"/>
          </p:cNvCxnSpPr>
          <p:nvPr/>
        </p:nvCxnSpPr>
        <p:spPr>
          <a:xfrm flipH="1">
            <a:off x="5824539" y="3212831"/>
            <a:ext cx="3995736" cy="2015204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右大括弧 29">
            <a:extLst>
              <a:ext uri="{FF2B5EF4-FFF2-40B4-BE49-F238E27FC236}">
                <a16:creationId xmlns:a16="http://schemas.microsoft.com/office/drawing/2014/main" id="{83B522D9-9189-1EF7-81AF-E899835506F4}"/>
              </a:ext>
            </a:extLst>
          </p:cNvPr>
          <p:cNvSpPr/>
          <p:nvPr/>
        </p:nvSpPr>
        <p:spPr>
          <a:xfrm>
            <a:off x="2552700" y="1223963"/>
            <a:ext cx="500063" cy="842962"/>
          </a:xfrm>
          <a:prstGeom prst="rightBrac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038791B5-23B1-CE02-E08C-F0BC7A2F56BD}"/>
              </a:ext>
            </a:extLst>
          </p:cNvPr>
          <p:cNvSpPr txBox="1"/>
          <p:nvPr/>
        </p:nvSpPr>
        <p:spPr>
          <a:xfrm>
            <a:off x="3123724" y="1462023"/>
            <a:ext cx="1969770" cy="2908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TW" sz="21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Signal declaration</a:t>
            </a:r>
            <a:endParaRPr lang="zh-TW" altLang="en-US" sz="2100" kern="1200" dirty="0" err="1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5" name="右大括弧 34">
            <a:extLst>
              <a:ext uri="{FF2B5EF4-FFF2-40B4-BE49-F238E27FC236}">
                <a16:creationId xmlns:a16="http://schemas.microsoft.com/office/drawing/2014/main" id="{41758863-082F-35CB-4EE6-1B4480981CF2}"/>
              </a:ext>
            </a:extLst>
          </p:cNvPr>
          <p:cNvSpPr/>
          <p:nvPr/>
        </p:nvSpPr>
        <p:spPr>
          <a:xfrm>
            <a:off x="2655095" y="3628790"/>
            <a:ext cx="500063" cy="383634"/>
          </a:xfrm>
          <a:prstGeom prst="rightBrac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3ECA27C-6A6F-AC6F-DE1E-54FEF1FF6067}"/>
              </a:ext>
            </a:extLst>
          </p:cNvPr>
          <p:cNvSpPr txBox="1"/>
          <p:nvPr/>
        </p:nvSpPr>
        <p:spPr>
          <a:xfrm>
            <a:off x="3263184" y="3669607"/>
            <a:ext cx="1969770" cy="2908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TW" sz="21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Waveform control</a:t>
            </a:r>
            <a:endParaRPr lang="zh-TW" altLang="en-US" sz="2100" kern="1200" dirty="0" err="1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1D4FDC3A-457E-52DF-6B68-8406D6A6760E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4214813" y="3243465"/>
            <a:ext cx="2752724" cy="139521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9CDA95F2-0A13-EC2F-D02C-726B421BD509}"/>
              </a:ext>
            </a:extLst>
          </p:cNvPr>
          <p:cNvSpPr txBox="1"/>
          <p:nvPr/>
        </p:nvSpPr>
        <p:spPr>
          <a:xfrm>
            <a:off x="1564006" y="4678599"/>
            <a:ext cx="1969770" cy="2908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TW" sz="21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Wait for 50ns</a:t>
            </a:r>
            <a:endParaRPr lang="zh-TW" altLang="en-US" sz="2100" kern="1200" dirty="0" err="1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58062998-D28E-A33D-5A05-6773087C57EC}"/>
              </a:ext>
            </a:extLst>
          </p:cNvPr>
          <p:cNvSpPr txBox="1"/>
          <p:nvPr/>
        </p:nvSpPr>
        <p:spPr>
          <a:xfrm>
            <a:off x="2812256" y="679434"/>
            <a:ext cx="1969770" cy="2908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TW" sz="21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Time unit is 1ns</a:t>
            </a:r>
            <a:endParaRPr lang="zh-TW" altLang="en-US" sz="2100" kern="1200" dirty="0" err="1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9EFD3280-B17C-BBDE-0BAA-70B18E44FA42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1797845" y="824859"/>
            <a:ext cx="1014411" cy="82543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3CFF6A24-48EF-144D-4224-98D3922171AB}"/>
              </a:ext>
            </a:extLst>
          </p:cNvPr>
          <p:cNvCxnSpPr>
            <a:cxnSpLocks/>
          </p:cNvCxnSpPr>
          <p:nvPr/>
        </p:nvCxnSpPr>
        <p:spPr>
          <a:xfrm flipH="1">
            <a:off x="2295525" y="982899"/>
            <a:ext cx="3200400" cy="56739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7F86AD4B-8B72-57C1-8A18-9A20665EB68E}"/>
              </a:ext>
            </a:extLst>
          </p:cNvPr>
          <p:cNvSpPr txBox="1"/>
          <p:nvPr/>
        </p:nvSpPr>
        <p:spPr>
          <a:xfrm>
            <a:off x="5525450" y="824858"/>
            <a:ext cx="3404237" cy="2908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TW" sz="21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Time precision is also 1ns</a:t>
            </a:r>
            <a:endParaRPr lang="zh-TW" altLang="en-US" sz="2100" kern="1200" dirty="0" err="1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8" name="右大括弧 47">
            <a:extLst>
              <a:ext uri="{FF2B5EF4-FFF2-40B4-BE49-F238E27FC236}">
                <a16:creationId xmlns:a16="http://schemas.microsoft.com/office/drawing/2014/main" id="{DDEF6209-8405-4784-9396-7C65F6C7024C}"/>
              </a:ext>
            </a:extLst>
          </p:cNvPr>
          <p:cNvSpPr/>
          <p:nvPr/>
        </p:nvSpPr>
        <p:spPr>
          <a:xfrm>
            <a:off x="5324476" y="4931569"/>
            <a:ext cx="500063" cy="592931"/>
          </a:xfrm>
          <a:prstGeom prst="rightBrac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8822922"/>
      </p:ext>
    </p:extLst>
  </p:cSld>
  <p:clrMapOvr>
    <a:masterClrMapping/>
  </p:clrMapOvr>
</p:sld>
</file>

<file path=ppt/theme/theme1.xml><?xml version="1.0" encoding="utf-8"?>
<a:theme xmlns:a="http://schemas.openxmlformats.org/drawingml/2006/main" name="Arm_PPT_Public">
  <a:themeElements>
    <a:clrScheme name="Arm PPT">
      <a:dk1>
        <a:srgbClr val="000000"/>
      </a:dk1>
      <a:lt1>
        <a:srgbClr val="FFFFFF"/>
      </a:lt1>
      <a:dk2>
        <a:srgbClr val="333E48"/>
      </a:dk2>
      <a:lt2>
        <a:srgbClr val="E5ECEB"/>
      </a:lt2>
      <a:accent1>
        <a:srgbClr val="0091BD"/>
      </a:accent1>
      <a:accent2>
        <a:srgbClr val="002B49"/>
      </a:accent2>
      <a:accent3>
        <a:srgbClr val="FFC700"/>
      </a:accent3>
      <a:accent4>
        <a:srgbClr val="95D600"/>
      </a:accent4>
      <a:accent5>
        <a:srgbClr val="FF6B00"/>
      </a:accent5>
      <a:accent6>
        <a:srgbClr val="7D868C"/>
      </a:accent6>
      <a:hlink>
        <a:srgbClr val="00C1DE"/>
      </a:hlink>
      <a:folHlink>
        <a:srgbClr val="002F6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90000"/>
          </a:lnSpc>
          <a:spcBef>
            <a:spcPts val="0"/>
          </a:spcBef>
          <a:spcAft>
            <a:spcPts val="600"/>
          </a:spcAft>
          <a:buFont typeface="Arial" panose="020B0604020202020204" pitchFamily="34" charset="0"/>
          <a:buNone/>
          <a:defRPr sz="2100" kern="1200" dirty="0" err="1" smtClean="0">
            <a:solidFill>
              <a:schemeClr val="tx2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rm_PPT_Master_Arm_Limited_2019.potx  -  Read-Only" id="{D09A6074-4508-4365-A1DC-9585CABF9D5F}" vid="{3CD30893-EED7-4292-8C0A-ECC25221B6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ARM Document" ma:contentTypeID="0x0101005C6975769EB1684CAB07571CAE07A11B0100BC81FA0C64ACC243A77959D9266C7751" ma:contentTypeVersion="27" ma:contentTypeDescription="" ma:contentTypeScope="" ma:versionID="c3d44a507a30e34bb56df6cb41b0e970">
  <xsd:schema xmlns:xsd="http://www.w3.org/2001/XMLSchema" xmlns:xs="http://www.w3.org/2001/XMLSchema" xmlns:p="http://schemas.microsoft.com/office/2006/metadata/properties" xmlns:ns1="http://schemas.microsoft.com/sharepoint/v3" xmlns:ns2="f2ad5090-61a8-4b8c-ab70-68f4ff4d1933" xmlns:ns3="http://schemas.microsoft.com/sharepoint/v3/fields" xmlns:ns4="c0950e01-db07-4e41-9c32-b7a8e9fccc9b" targetNamespace="http://schemas.microsoft.com/office/2006/metadata/properties" ma:root="true" ma:fieldsID="d6365f768a9cf65e3d0aaa644537f94f" ns1:_="" ns2:_="" ns3:_="" ns4:_="">
    <xsd:import namespace="http://schemas.microsoft.com/sharepoint/v3"/>
    <xsd:import namespace="f2ad5090-61a8-4b8c-ab70-68f4ff4d1933"/>
    <xsd:import namespace="http://schemas.microsoft.com/sharepoint/v3/fields"/>
    <xsd:import namespace="c0950e01-db07-4e41-9c32-b7a8e9fccc9b"/>
    <xsd:element name="properties">
      <xsd:complexType>
        <xsd:sequence>
          <xsd:element name="documentManagement">
            <xsd:complexType>
              <xsd:all>
                <xsd:element ref="ns1:RoutingRuleDescription" minOccurs="0"/>
                <xsd:element ref="ns2:Document_x0020_Author" minOccurs="0"/>
                <xsd:element ref="ns3:_Status"/>
                <xsd:element ref="ns2:Document_x0020_Confidentiality"/>
                <xsd:element ref="ns2:_dlc_DocId" minOccurs="0"/>
                <xsd:element ref="ns2:_dlc_DocIdUrl" minOccurs="0"/>
                <xsd:element ref="ns2:_dlc_DocIdPersistId" minOccurs="0"/>
                <xsd:element ref="ns2:ARM_x0020_Legacy_x0020_ID" minOccurs="0"/>
                <xsd:element ref="ns2:Current_x0020_Version" minOccurs="0"/>
                <xsd:element ref="ns2:j60c3ced31bb40378c6254d49035d966" minOccurs="0"/>
                <xsd:element ref="ns2:TaxCatchAll" minOccurs="0"/>
                <xsd:element ref="ns2:TaxCatchAllLabel" minOccurs="0"/>
                <xsd:element ref="ns4:Categ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RoutingRuleDescription" ma:index="2" nillable="true" ma:displayName="Description" ma:internalName="RoutingRuleDescription" ma:readOnly="fals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ad5090-61a8-4b8c-ab70-68f4ff4d1933" elementFormDefault="qualified">
    <xsd:import namespace="http://schemas.microsoft.com/office/2006/documentManagement/types"/>
    <xsd:import namespace="http://schemas.microsoft.com/office/infopath/2007/PartnerControls"/>
    <xsd:element name="Document_x0020_Author" ma:index="3" nillable="true" ma:displayName="Document Author" ma:list="UserInfo" ma:SharePointGroup="0" ma:internalName="Document_x0020_Autho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ocument_x0020_Confidentiality" ma:index="5" ma:displayName="Document Confidentiality" ma:default="Confidential" ma:format="Dropdown" ma:internalName="Document_x0020_Confidentiality">
      <xsd:simpleType>
        <xsd:restriction base="dms:Choice">
          <xsd:enumeration value="Secret"/>
          <xsd:enumeration value="Confidential-Restricted"/>
          <xsd:enumeration value="Confidential"/>
          <xsd:enumeration value="Non-Confidential"/>
          <xsd:enumeration value="Personal"/>
        </xsd:restriction>
      </xsd:simpleType>
    </xsd:element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ARM_x0020_Legacy_x0020_ID" ma:index="16" nillable="true" ma:displayName="ARM Legacy ID" ma:internalName="ARM_x0020_Legacy_x0020_ID">
      <xsd:simpleType>
        <xsd:restriction base="dms:Text">
          <xsd:maxLength value="255"/>
        </xsd:restriction>
      </xsd:simpleType>
    </xsd:element>
    <xsd:element name="Current_x0020_Version" ma:index="17" nillable="true" ma:displayName="Current Version" ma:description="The current version number of the file in SharePoint." ma:internalName="Current_x0020_Version" ma:readOnly="false">
      <xsd:simpleType>
        <xsd:restriction base="dms:Text">
          <xsd:maxLength value="255"/>
        </xsd:restriction>
      </xsd:simpleType>
    </xsd:element>
    <xsd:element name="j60c3ced31bb40378c6254d49035d966" ma:index="18" nillable="true" ma:taxonomy="true" ma:internalName="j60c3ced31bb40378c6254d49035d966" ma:taxonomyFieldName="Calendar_x0020_Year" ma:displayName="Calendar Year" ma:readOnly="false" ma:default="7;#2017|58467e81-5d99-44a5-abb5-12a016b65e9e" ma:fieldId="{360c3ced-31bb-4037-8c62-54d49035d966}" ma:sspId="982c6e79-63e2-4d63-9b21-99d1544b0b75" ma:termSetId="c604d99f-773e-49a6-a2c0-6d4bc754112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9" nillable="true" ma:displayName="Taxonomy Catch All Column" ma:hidden="true" ma:list="{a9424fa9-fdb0-43c3-9a79-ae027323b92a}" ma:internalName="TaxCatchAll" ma:showField="CatchAllData" ma:web="f2ad5090-61a8-4b8c-ab70-68f4ff4d19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20" nillable="true" ma:displayName="Taxonomy Catch All Column1" ma:hidden="true" ma:list="{a9424fa9-fdb0-43c3-9a79-ae027323b92a}" ma:internalName="TaxCatchAllLabel" ma:readOnly="true" ma:showField="CatchAllDataLabel" ma:web="f2ad5090-61a8-4b8c-ab70-68f4ff4d19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4" ma:displayName="Status" ma:default="Not Started" ma:internalName="_Status" ma:readOnly="false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950e01-db07-4e41-9c32-b7a8e9fccc9b" elementFormDefault="qualified">
    <xsd:import namespace="http://schemas.microsoft.com/office/2006/documentManagement/types"/>
    <xsd:import namespace="http://schemas.microsoft.com/office/infopath/2007/PartnerControls"/>
    <xsd:element name="Category" ma:index="22" nillable="true" ma:displayName="Category" ma:format="Dropdown" ma:internalName="Category">
      <xsd:simpleType>
        <xsd:restriction base="dms:Choice">
          <xsd:enumeration value="Word Documents - UK"/>
          <xsd:enumeration value="Word Documents - US"/>
          <xsd:enumeration value="Board Presentation Templates"/>
          <xsd:enumeration value="Public Presentation Templates"/>
          <xsd:enumeration value="Private Presentation Template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1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 ma:index="6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axOccurs="1" ma:displayName="Status">
          <xsd:simpleType xmlns:xs="http://www.w3.org/2001/XMLSchema">
            <xsd:restriction base="xsd:string">
              <xsd:minLength value="1"/>
            </xsd:restriction>
          </xsd:simpleType>
        </xsd:element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ent_x0020_Version xmlns="f2ad5090-61a8-4b8c-ab70-68f4ff4d1933">9.0</Current_x0020_Version>
    <Document_x0020_Author xmlns="f2ad5090-61a8-4b8c-ab70-68f4ff4d1933">
      <UserInfo>
        <DisplayName/>
        <AccountId xsi:nil="true"/>
        <AccountType/>
      </UserInfo>
    </Document_x0020_Author>
    <_dlc_DocId xmlns="f2ad5090-61a8-4b8c-ab70-68f4ff4d1933">ARM-ECM-0633231</_dlc_DocId>
    <Document_x0020_Confidentiality xmlns="f2ad5090-61a8-4b8c-ab70-68f4ff4d1933">Confidential-Restricted</Document_x0020_Confidentiality>
    <_dlc_DocIdUrl xmlns="f2ad5090-61a8-4b8c-ab70-68f4ff4d1933">
      <Url>http://teamsites.arm.com/sites/cthub/_layouts/DocIdRedir.aspx?ID=ARM-ECM-0633231</Url>
      <Description>ARM-ECM-0633231</Description>
    </_dlc_DocIdUrl>
    <Category xmlns="c0950e01-db07-4e41-9c32-b7a8e9fccc9b">Private Presentation Templates</Category>
    <ARM_x0020_Legacy_x0020_ID xmlns="f2ad5090-61a8-4b8c-ab70-68f4ff4d1933" xsi:nil="true"/>
    <TaxCatchAll xmlns="f2ad5090-61a8-4b8c-ab70-68f4ff4d1933">
      <Value>7</Value>
      <Value>1</Value>
    </TaxCatchAll>
    <j60c3ced31bb40378c6254d49035d966 xmlns="f2ad5090-61a8-4b8c-ab70-68f4ff4d1933">
      <Terms xmlns="http://schemas.microsoft.com/office/infopath/2007/PartnerControls">
        <TermInfo xmlns="http://schemas.microsoft.com/office/infopath/2007/PartnerControls">
          <TermName xmlns="http://schemas.microsoft.com/office/infopath/2007/PartnerControls">2017</TermName>
          <TermId xmlns="http://schemas.microsoft.com/office/infopath/2007/PartnerControls">58467e81-5d99-44a5-abb5-12a016b65e9e</TermId>
        </TermInfo>
      </Terms>
    </j60c3ced31bb40378c6254d49035d966>
    <RoutingRuleDescription xmlns="http://schemas.microsoft.com/sharepoint/v3" xsi:nil="true"/>
    <_Status xmlns="http://schemas.microsoft.com/sharepoint/v3/fields">Not Started</_Status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customXsn xmlns="http://schemas.microsoft.com/office/2006/metadata/customXsn">
  <xsnLocation/>
  <cached>True</cached>
  <openByDefault>True</openByDefault>
  <xsnScope/>
</customXsn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75509F-A6F5-4147-861D-E4CC99F48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2ad5090-61a8-4b8c-ab70-68f4ff4d1933"/>
    <ds:schemaRef ds:uri="http://schemas.microsoft.com/sharepoint/v3/fields"/>
    <ds:schemaRef ds:uri="c0950e01-db07-4e41-9c32-b7a8e9fccc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61D4E06-5D3F-4994-A4A7-4BA626FA722D}">
  <ds:schemaRefs>
    <ds:schemaRef ds:uri="http://schemas.microsoft.com/sharepoint/v3"/>
    <ds:schemaRef ds:uri="http://schemas.microsoft.com/office/2006/documentManagement/types"/>
    <ds:schemaRef ds:uri="http://purl.org/dc/elements/1.1/"/>
    <ds:schemaRef ds:uri="f2ad5090-61a8-4b8c-ab70-68f4ff4d1933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sharepoint/v3/fields"/>
    <ds:schemaRef ds:uri="http://schemas.openxmlformats.org/package/2006/metadata/core-properties"/>
    <ds:schemaRef ds:uri="c0950e01-db07-4e41-9c32-b7a8e9fccc9b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E7F2E56-8924-419D-99E9-79DB71144EB2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C959113B-7FA4-40AB-AF85-5C5588D4771C}">
  <ds:schemaRefs>
    <ds:schemaRef ds:uri="http://schemas.microsoft.com/office/2006/metadata/customXsn"/>
  </ds:schemaRefs>
</ds:datastoreItem>
</file>

<file path=customXml/itemProps5.xml><?xml version="1.0" encoding="utf-8"?>
<ds:datastoreItem xmlns:ds="http://schemas.openxmlformats.org/officeDocument/2006/customXml" ds:itemID="{82EFBBFE-5AFC-4CAD-AD38-1CB870BDB2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Arm_Education_PPT_template_2019</Template>
  <TotalTime>0</TotalTime>
  <Words>787</Words>
  <Application>Microsoft Office PowerPoint</Application>
  <PresentationFormat>寬螢幕</PresentationFormat>
  <Paragraphs>123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-apple-system</vt:lpstr>
      <vt:lpstr>Arial</vt:lpstr>
      <vt:lpstr>Calibri</vt:lpstr>
      <vt:lpstr>Wingdings</vt:lpstr>
      <vt:lpstr>Arm_PPT_Public</vt:lpstr>
      <vt:lpstr>Homework #3 of Introduction to VLSI Design </vt:lpstr>
      <vt:lpstr>Assignment #3.11 10% </vt:lpstr>
      <vt:lpstr>Homework #3.12 (Cont’d) 10% </vt:lpstr>
      <vt:lpstr>Homework #3.13 (Cont’d) 10% </vt:lpstr>
      <vt:lpstr>Assignment #3.2 20%</vt:lpstr>
      <vt:lpstr>Assignment #3.3 25%</vt:lpstr>
      <vt:lpstr>Assignment #3.4 25%</vt:lpstr>
      <vt:lpstr>Reference</vt:lpstr>
      <vt:lpstr>Reference</vt:lpstr>
      <vt:lpstr>Reference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CMOS VLSI Design  Lecture 2: Circuits &amp; Layout</dc:title>
  <dc:subject/>
  <dc:creator/>
  <cp:keywords/>
  <dc:description/>
  <cp:lastModifiedBy/>
  <cp:revision>41</cp:revision>
  <dcterms:created xsi:type="dcterms:W3CDTF">2019-04-08T13:00:08Z</dcterms:created>
  <dcterms:modified xsi:type="dcterms:W3CDTF">2025-04-02T08:16:12Z</dcterms:modified>
  <cp:category/>
  <cp:contentStatus>Published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45c40ffca3445d9bf3205a60bd2f6d6">
    <vt:lpwstr>Confidential|28d1025d-1415-4984-b35e-5b79e7d32b5c</vt:lpwstr>
  </property>
  <property fmtid="{D5CDD505-2E9C-101B-9397-08002B2CF9AE}" pid="3" name="TaxKeyword">
    <vt:lpwstr/>
  </property>
  <property fmtid="{D5CDD505-2E9C-101B-9397-08002B2CF9AE}" pid="4" name="_dlc_policyId">
    <vt:lpwstr>0x0101004E4B3E189D714F49A85ED613D6AE4F95|-1756139441</vt:lpwstr>
  </property>
  <property fmtid="{D5CDD505-2E9C-101B-9397-08002B2CF9AE}" pid="5" name="_dlc_DocIdItemGuid">
    <vt:lpwstr>e89a121e-355c-4cb1-879e-045fefeb8c84</vt:lpwstr>
  </property>
  <property fmtid="{D5CDD505-2E9C-101B-9397-08002B2CF9AE}" pid="6" name="_dlc_ItemStageId">
    <vt:lpwstr>1</vt:lpwstr>
  </property>
  <property fmtid="{D5CDD505-2E9C-101B-9397-08002B2CF9AE}" pid="7" name="j60c3ced31bb40378c6254d49035d966">
    <vt:lpwstr>2015|ee47c3e7-6a69-4f36-9adf-1007c8d399a4</vt:lpwstr>
  </property>
  <property fmtid="{D5CDD505-2E9C-101B-9397-08002B2CF9AE}" pid="8" name="vti_description">
    <vt:lpwstr/>
  </property>
  <property fmtid="{D5CDD505-2E9C-101B-9397-08002B2CF9AE}" pid="9" name="WorkflowChangePath">
    <vt:lpwstr>1069b4ef-e6f3-4ad7-8c8e-772136578697,10;</vt:lpwstr>
  </property>
  <property fmtid="{D5CDD505-2E9C-101B-9397-08002B2CF9AE}" pid="10" name="Confidentiality">
    <vt:lpwstr>1;#Confidential|28d1025d-1415-4984-b35e-5b79e7d32b5c</vt:lpwstr>
  </property>
  <property fmtid="{D5CDD505-2E9C-101B-9397-08002B2CF9AE}" pid="11" name="ContentTypeId">
    <vt:lpwstr>0x0101005C6975769EB1684CAB07571CAE07A11B0100BC81FA0C64ACC243A77959D9266C7751</vt:lpwstr>
  </property>
  <property fmtid="{D5CDD505-2E9C-101B-9397-08002B2CF9AE}" pid="12" name="Calendar Year">
    <vt:lpwstr>7;#2017|58467e81-5d99-44a5-abb5-12a016b65e9e</vt:lpwstr>
  </property>
  <property fmtid="{D5CDD505-2E9C-101B-9397-08002B2CF9AE}" pid="13" name="TaxCatchAll">
    <vt:lpwstr/>
  </property>
  <property fmtid="{D5CDD505-2E9C-101B-9397-08002B2CF9AE}" pid="14" name="TaxKeywordTaxHTField">
    <vt:lpwstr/>
  </property>
  <property fmtid="{D5CDD505-2E9C-101B-9397-08002B2CF9AE}" pid="15" name="ItemRetentionFormula">
    <vt:lpwstr/>
  </property>
  <property fmtid="{D5CDD505-2E9C-101B-9397-08002B2CF9AE}" pid="16" name="_dlc_LastRun">
    <vt:lpwstr>08/15/2015 23:02:11</vt:lpwstr>
  </property>
</Properties>
</file>